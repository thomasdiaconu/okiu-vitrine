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544B"/>
        </a:solidFill>
      </p:bgPr>
    </p:bg>
    <p:spTree>
      <p:nvGrpSpPr>
        <p:cNvPr id="1" name=""/>
        <p:cNvGrpSpPr/>
        <p:nvPr/>
      </p:nvGrpSpPr>
      <p:grpSpPr>
        <a:xfrm>
          <a:off x="0" y="0"/>
          <a:ext cx="0" cy="0"/>
          <a:chOff x="0" y="0"/>
          <a:chExt cx="0" cy="0"/>
        </a:xfrm>
      </p:grpSpPr>
      <p:sp>
        <p:nvSpPr>
          <p:cNvPr id="2" name="Shape 0"/>
          <p:cNvSpPr/>
          <p:nvPr/>
        </p:nvSpPr>
        <p:spPr>
          <a:xfrm>
            <a:off x="548640" y="475488"/>
            <a:ext cx="237744" cy="237744"/>
          </a:xfrm>
          <a:prstGeom prst="ellipse">
            <a:avLst/>
          </a:prstGeom>
          <a:ln w="28575">
            <a:solidFill>
              <a:srgbClr val="FFFFFF"/>
            </a:solidFill>
            <a:prstDash val="solid"/>
          </a:ln>
        </p:spPr>
      </p:sp>
      <p:sp>
        <p:nvSpPr>
          <p:cNvPr id="3" name="Shape 1"/>
          <p:cNvSpPr/>
          <p:nvPr/>
        </p:nvSpPr>
        <p:spPr>
          <a:xfrm>
            <a:off x="736933" y="467880"/>
            <a:ext cx="76078" cy="76078"/>
          </a:xfrm>
          <a:prstGeom prst="ellipse">
            <a:avLst/>
          </a:prstGeom>
          <a:solidFill>
            <a:srgbClr val="C97A3D"/>
          </a:solidFill>
          <a:ln/>
        </p:spPr>
      </p:sp>
      <p:sp>
        <p:nvSpPr>
          <p:cNvPr id="4" name="Text 2"/>
          <p:cNvSpPr/>
          <p:nvPr/>
        </p:nvSpPr>
        <p:spPr>
          <a:xfrm>
            <a:off x="914400" y="374904"/>
            <a:ext cx="1828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OKIU</a:t>
            </a:r>
            <a:endParaRPr lang="en-US" sz="1700" dirty="0"/>
          </a:p>
        </p:txBody>
      </p:sp>
      <p:sp>
        <p:nvSpPr>
          <p:cNvPr id="5" name="Shape 3"/>
          <p:cNvSpPr/>
          <p:nvPr/>
        </p:nvSpPr>
        <p:spPr>
          <a:xfrm>
            <a:off x="566928" y="2139696"/>
            <a:ext cx="82296" cy="82296"/>
          </a:xfrm>
          <a:prstGeom prst="ellipse">
            <a:avLst/>
          </a:prstGeom>
          <a:solidFill>
            <a:srgbClr val="1F6F63"/>
          </a:solidFill>
          <a:ln/>
        </p:spPr>
      </p:sp>
      <p:sp>
        <p:nvSpPr>
          <p:cNvPr id="6" name="Text 4"/>
          <p:cNvSpPr/>
          <p:nvPr/>
        </p:nvSpPr>
        <p:spPr>
          <a:xfrm>
            <a:off x="749808" y="2002536"/>
            <a:ext cx="9144000" cy="274320"/>
          </a:xfrm>
          <a:prstGeom prst="rect">
            <a:avLst/>
          </a:prstGeom>
          <a:noFill/>
          <a:ln/>
        </p:spPr>
        <p:txBody>
          <a:bodyPr wrap="square" lIns="0" tIns="0" rIns="0" bIns="0" rtlCol="0" anchor="ctr"/>
          <a:lstStyle/>
          <a:p>
            <a:pPr indent="0" marL="0">
              <a:buNone/>
            </a:pPr>
            <a:r>
              <a:rPr lang="en-US" sz="1250" b="1" spc="200" kern="0" dirty="0">
                <a:solidFill>
                  <a:srgbClr val="CFE3DE"/>
                </a:solidFill>
                <a:latin typeface="Calibri" pitchFamily="34" charset="0"/>
                <a:ea typeface="Calibri" pitchFamily="34" charset="-122"/>
                <a:cs typeface="Calibri" pitchFamily="34" charset="-120"/>
              </a:rPr>
              <a:t>POUR LES DIRIGEANTS DE MAGASINS D'OPTIQUE INDÉPENDANTS</a:t>
            </a:r>
            <a:endParaRPr lang="en-US" sz="1250" dirty="0"/>
          </a:p>
        </p:txBody>
      </p:sp>
      <p:sp>
        <p:nvSpPr>
          <p:cNvPr id="7" name="Text 5"/>
          <p:cNvSpPr/>
          <p:nvPr/>
        </p:nvSpPr>
        <p:spPr>
          <a:xfrm>
            <a:off x="548640" y="2377440"/>
            <a:ext cx="9692640" cy="1737360"/>
          </a:xfrm>
          <a:prstGeom prst="rect">
            <a:avLst/>
          </a:prstGeom>
          <a:noFill/>
          <a:ln/>
        </p:spPr>
        <p:txBody>
          <a:bodyPr wrap="square" lIns="0" tIns="0" rIns="0" bIns="0" rtlCol="0" anchor="ctr"/>
          <a:lstStyle/>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Votre temps appartient à vos clients.</a:t>
            </a:r>
            <a:endParaRPr lang="en-US" sz="4000" dirty="0"/>
          </a:p>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Pas à la paperasse.</a:t>
            </a:r>
            <a:endParaRPr lang="en-US" sz="4000" dirty="0"/>
          </a:p>
        </p:txBody>
      </p:sp>
      <p:sp>
        <p:nvSpPr>
          <p:cNvPr id="8" name="Text 6"/>
          <p:cNvSpPr/>
          <p:nvPr/>
        </p:nvSpPr>
        <p:spPr>
          <a:xfrm>
            <a:off x="548640" y="4251960"/>
            <a:ext cx="7863840" cy="822960"/>
          </a:xfrm>
          <a:prstGeom prst="rect">
            <a:avLst/>
          </a:prstGeom>
          <a:noFill/>
          <a:ln/>
        </p:spPr>
        <p:txBody>
          <a:bodyPr wrap="square" lIns="0" tIns="0" rIns="0" bIns="0" rtlCol="0" anchor="ctr"/>
          <a:lstStyle/>
          <a:p>
            <a:pPr indent="0" marL="0">
              <a:lnSpc>
                <a:spcPct val="130000"/>
              </a:lnSpc>
              <a:buNone/>
            </a:pPr>
            <a:r>
              <a:rPr lang="en-US" sz="1600" dirty="0">
                <a:solidFill>
                  <a:srgbClr val="CFE3DE"/>
                </a:solidFill>
                <a:latin typeface="Calibri" pitchFamily="34" charset="0"/>
                <a:ea typeface="Calibri" pitchFamily="34" charset="-122"/>
                <a:cs typeface="Calibri" pitchFamily="34" charset="-120"/>
              </a:rPr>
              <a:t>OKIU observe vos outils habituels, vérifie vos dossiers de bout en bout, et n'interrompt votre journée que pour les décisions qui comptent vraiment.</a:t>
            </a:r>
            <a:endParaRPr lang="en-US" sz="1600" dirty="0"/>
          </a:p>
        </p:txBody>
      </p:sp>
      <p:sp>
        <p:nvSpPr>
          <p:cNvPr id="9" name="Shape 7"/>
          <p:cNvSpPr/>
          <p:nvPr/>
        </p:nvSpPr>
        <p:spPr>
          <a:xfrm>
            <a:off x="548640" y="5349240"/>
            <a:ext cx="2697480" cy="512064"/>
          </a:xfrm>
          <a:prstGeom prst="roundRect">
            <a:avLst>
              <a:gd name="adj" fmla="val 50000"/>
            </a:avLst>
          </a:prstGeom>
          <a:solidFill>
            <a:srgbClr val="C97A3D"/>
          </a:solidFill>
          <a:ln/>
        </p:spPr>
      </p:sp>
      <p:sp>
        <p:nvSpPr>
          <p:cNvPr id="10" name="Text 8"/>
          <p:cNvSpPr/>
          <p:nvPr/>
        </p:nvSpPr>
        <p:spPr>
          <a:xfrm>
            <a:off x="548640" y="5349240"/>
            <a:ext cx="2697480" cy="51206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Devenir magasin pilote</a:t>
            </a:r>
            <a:endParaRPr lang="en-US" sz="1350" dirty="0"/>
          </a:p>
        </p:txBody>
      </p:sp>
      <p:sp>
        <p:nvSpPr>
          <p:cNvPr id="11" name="Text 9"/>
          <p:cNvSpPr/>
          <p:nvPr/>
        </p:nvSpPr>
        <p:spPr>
          <a:xfrm>
            <a:off x="3429000" y="5349240"/>
            <a:ext cx="5029200" cy="512064"/>
          </a:xfrm>
          <a:prstGeom prst="rect">
            <a:avLst/>
          </a:prstGeom>
          <a:noFill/>
          <a:ln/>
        </p:spPr>
        <p:txBody>
          <a:bodyPr wrap="square" lIns="0" tIns="0" rIns="0" bIns="0" rtlCol="0" anchor="ctr"/>
          <a:lstStyle/>
          <a:p>
            <a:pPr indent="0" marL="0">
              <a:buNone/>
            </a:pPr>
            <a:r>
              <a:rPr lang="en-US" sz="1150" i="1" dirty="0">
                <a:solidFill>
                  <a:srgbClr val="8FBBB0"/>
                </a:solidFill>
                <a:latin typeface="Calibri" pitchFamily="34" charset="0"/>
                <a:ea typeface="Calibri" pitchFamily="34" charset="-122"/>
                <a:cs typeface="Calibri" pitchFamily="34" charset="-120"/>
              </a:rPr>
              <a:t>Aucun nouveau logiciel à apprendre. Aucun changement d'habitude.</a:t>
            </a:r>
            <a:endParaRPr lang="en-US" sz="1150" dirty="0"/>
          </a:p>
        </p:txBody>
      </p:sp>
      <p:sp>
        <p:nvSpPr>
          <p:cNvPr id="12" name="Text 10"/>
          <p:cNvSpPr/>
          <p:nvPr/>
        </p:nvSpPr>
        <p:spPr>
          <a:xfrm>
            <a:off x="548640" y="6263640"/>
            <a:ext cx="5486400" cy="274320"/>
          </a:xfrm>
          <a:prstGeom prst="rect">
            <a:avLst/>
          </a:prstGeom>
          <a:noFill/>
          <a:ln/>
        </p:spPr>
        <p:txBody>
          <a:bodyPr wrap="square" lIns="0" tIns="0" rIns="0" bIns="0" rtlCol="0" anchor="ctr"/>
          <a:lstStyle/>
          <a:p>
            <a:pPr indent="0" marL="0">
              <a:buNone/>
            </a:pPr>
            <a:r>
              <a:rPr lang="en-US" sz="1100" b="1" spc="100" kern="0" dirty="0">
                <a:solidFill>
                  <a:srgbClr val="C97A3D"/>
                </a:solidFill>
                <a:latin typeface="Calibri" pitchFamily="34" charset="0"/>
                <a:ea typeface="Calibri" pitchFamily="34" charset="-122"/>
                <a:cs typeface="Calibri" pitchFamily="34" charset="-120"/>
              </a:rPr>
              <a:t>Programme pilote — Ver'Optic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237744" cy="237744"/>
          </a:xfrm>
          <a:prstGeom prst="ellipse">
            <a:avLst/>
          </a:prstGeom>
          <a:ln w="28575">
            <a:solidFill>
              <a:srgbClr val="1F6F63"/>
            </a:solidFill>
            <a:prstDash val="solid"/>
          </a:ln>
        </p:spPr>
      </p:sp>
      <p:sp>
        <p:nvSpPr>
          <p:cNvPr id="3" name="Shape 1"/>
          <p:cNvSpPr/>
          <p:nvPr/>
        </p:nvSpPr>
        <p:spPr>
          <a:xfrm>
            <a:off x="736933" y="422160"/>
            <a:ext cx="76078" cy="76078"/>
          </a:xfrm>
          <a:prstGeom prst="ellipse">
            <a:avLst/>
          </a:prstGeom>
          <a:solidFill>
            <a:srgbClr val="C97A3D"/>
          </a:solidFill>
          <a:ln/>
        </p:spPr>
      </p:sp>
      <p:sp>
        <p:nvSpPr>
          <p:cNvPr id="4" name="Text 2"/>
          <p:cNvSpPr/>
          <p:nvPr/>
        </p:nvSpPr>
        <p:spPr>
          <a:xfrm>
            <a:off x="914400" y="329184"/>
            <a:ext cx="1828800" cy="365760"/>
          </a:xfrm>
          <a:prstGeom prst="rect">
            <a:avLst/>
          </a:prstGeom>
          <a:noFill/>
          <a:ln/>
        </p:spPr>
        <p:txBody>
          <a:bodyPr wrap="square" lIns="0" tIns="0" rIns="0" bIns="0" rtlCol="0" anchor="ctr"/>
          <a:lstStyle/>
          <a:p>
            <a:pPr indent="0" marL="0">
              <a:buNone/>
            </a:pPr>
            <a:r>
              <a:rPr lang="en-US" sz="1700" b="1" dirty="0">
                <a:solidFill>
                  <a:srgbClr val="12181B"/>
                </a:solidFill>
                <a:latin typeface="Cambria" pitchFamily="34" charset="0"/>
                <a:ea typeface="Cambria" pitchFamily="34" charset="-122"/>
                <a:cs typeface="Cambria" pitchFamily="34" charset="-120"/>
              </a:rPr>
              <a:t>OKIU</a:t>
            </a:r>
            <a:endParaRPr lang="en-US" sz="1700" dirty="0"/>
          </a:p>
        </p:txBody>
      </p:sp>
      <p:sp>
        <p:nvSpPr>
          <p:cNvPr id="5" name="Shape 3"/>
          <p:cNvSpPr/>
          <p:nvPr/>
        </p:nvSpPr>
        <p:spPr>
          <a:xfrm>
            <a:off x="566928" y="1316736"/>
            <a:ext cx="82296" cy="82296"/>
          </a:xfrm>
          <a:prstGeom prst="ellipse">
            <a:avLst/>
          </a:prstGeom>
          <a:solidFill>
            <a:srgbClr val="1F6F63"/>
          </a:solidFill>
          <a:ln/>
        </p:spPr>
      </p:sp>
      <p:sp>
        <p:nvSpPr>
          <p:cNvPr id="6" name="Text 4"/>
          <p:cNvSpPr/>
          <p:nvPr/>
        </p:nvSpPr>
        <p:spPr>
          <a:xfrm>
            <a:off x="749808" y="1179576"/>
            <a:ext cx="7315200" cy="274320"/>
          </a:xfrm>
          <a:prstGeom prst="rect">
            <a:avLst/>
          </a:prstGeom>
          <a:noFill/>
          <a:ln/>
        </p:spPr>
        <p:txBody>
          <a:bodyPr wrap="square" lIns="0" tIns="0" rIns="0" bIns="0" rtlCol="0" anchor="ctr"/>
          <a:lstStyle/>
          <a:p>
            <a:pPr indent="0" marL="0">
              <a:buNone/>
            </a:pPr>
            <a:r>
              <a:rPr lang="en-US" sz="1250" b="1" spc="200" kern="0" dirty="0">
                <a:solidFill>
                  <a:srgbClr val="1F6F63"/>
                </a:solidFill>
                <a:latin typeface="Calibri" pitchFamily="34" charset="0"/>
                <a:ea typeface="Calibri" pitchFamily="34" charset="-122"/>
                <a:cs typeface="Calibri" pitchFamily="34" charset="-120"/>
              </a:rPr>
              <a:t>LE PROBLÈME</a:t>
            </a:r>
            <a:endParaRPr lang="en-US" sz="1250" dirty="0"/>
          </a:p>
        </p:txBody>
      </p:sp>
      <p:sp>
        <p:nvSpPr>
          <p:cNvPr id="7" name="Text 5"/>
          <p:cNvSpPr/>
          <p:nvPr/>
        </p:nvSpPr>
        <p:spPr>
          <a:xfrm>
            <a:off x="548640" y="1508760"/>
            <a:ext cx="10789920" cy="685800"/>
          </a:xfrm>
          <a:prstGeom prst="rect">
            <a:avLst/>
          </a:prstGeom>
          <a:noFill/>
          <a:ln/>
        </p:spPr>
        <p:txBody>
          <a:bodyPr wrap="square" lIns="0" tIns="0" rIns="0" bIns="0" rtlCol="0" anchor="ctr"/>
          <a:lstStyle/>
          <a:p>
            <a:pPr indent="0" marL="0">
              <a:buNone/>
            </a:pPr>
            <a:r>
              <a:rPr lang="en-US" sz="3000" b="1" dirty="0">
                <a:solidFill>
                  <a:srgbClr val="12181B"/>
                </a:solidFill>
                <a:latin typeface="Cambria" pitchFamily="34" charset="0"/>
                <a:ea typeface="Cambria" pitchFamily="34" charset="-122"/>
                <a:cs typeface="Cambria" pitchFamily="34" charset="-120"/>
              </a:rPr>
              <a:t>Chaque vente laisse une trace invisible.</a:t>
            </a:r>
            <a:endParaRPr lang="en-US" sz="3000" dirty="0"/>
          </a:p>
        </p:txBody>
      </p:sp>
      <p:sp>
        <p:nvSpPr>
          <p:cNvPr id="8" name="Text 6"/>
          <p:cNvSpPr/>
          <p:nvPr/>
        </p:nvSpPr>
        <p:spPr>
          <a:xfrm>
            <a:off x="548640" y="2423160"/>
            <a:ext cx="5029200" cy="1965960"/>
          </a:xfrm>
          <a:prstGeom prst="rect">
            <a:avLst/>
          </a:prstGeom>
          <a:noFill/>
          <a:ln/>
        </p:spPr>
        <p:txBody>
          <a:bodyPr wrap="square" lIns="0" tIns="0" rIns="0" bIns="0" rtlCol="0" anchor="ctr"/>
          <a:lstStyle/>
          <a:p>
            <a:pPr indent="0" marL="0">
              <a:lnSpc>
                <a:spcPct val="135000"/>
              </a:lnSpc>
              <a:buNone/>
            </a:pPr>
            <a:r>
              <a:rPr lang="en-US" sz="1400" dirty="0">
                <a:solidFill>
                  <a:srgbClr val="52616B"/>
                </a:solidFill>
                <a:latin typeface="Calibri" pitchFamily="34" charset="0"/>
                <a:ea typeface="Calibri" pitchFamily="34" charset="-122"/>
                <a:cs typeface="Calibri" pitchFamily="34" charset="-120"/>
              </a:rPr>
              <a:t>Derrière chaque paire de lunettes vendue, un dossier se met en route : vérifier l'ordonnance, contrôler la prise en charge, rapprocher les documents, suivre le remboursement, relancer en cas de rejet. Ce travail ne se voit jamais au comptoir. Il se voit dans votre emploi du temps.</a:t>
            </a:r>
            <a:endParaRPr lang="en-US" sz="1400" dirty="0"/>
          </a:p>
        </p:txBody>
      </p:sp>
      <p:sp>
        <p:nvSpPr>
          <p:cNvPr id="9" name="Shape 7"/>
          <p:cNvSpPr/>
          <p:nvPr/>
        </p:nvSpPr>
        <p:spPr>
          <a:xfrm>
            <a:off x="548640" y="4617720"/>
            <a:ext cx="5029200" cy="1417320"/>
          </a:xfrm>
          <a:prstGeom prst="roundRect">
            <a:avLst>
              <a:gd name="adj" fmla="val 9032"/>
            </a:avLst>
          </a:prstGeom>
          <a:solidFill>
            <a:srgbClr val="F4F6F6"/>
          </a:solidFill>
          <a:ln w="12700">
            <a:solidFill>
              <a:srgbClr val="E0E5E4"/>
            </a:solidFill>
            <a:prstDash val="solid"/>
          </a:ln>
        </p:spPr>
      </p:sp>
      <p:sp>
        <p:nvSpPr>
          <p:cNvPr id="10" name="Text 8"/>
          <p:cNvSpPr/>
          <p:nvPr/>
        </p:nvSpPr>
        <p:spPr>
          <a:xfrm>
            <a:off x="822960" y="4754880"/>
            <a:ext cx="2377440" cy="777240"/>
          </a:xfrm>
          <a:prstGeom prst="rect">
            <a:avLst/>
          </a:prstGeom>
          <a:noFill/>
          <a:ln/>
        </p:spPr>
        <p:txBody>
          <a:bodyPr wrap="square" lIns="0" tIns="0" rIns="0" bIns="0" rtlCol="0" anchor="ctr"/>
          <a:lstStyle/>
          <a:p>
            <a:pPr indent="0" marL="0">
              <a:buNone/>
            </a:pPr>
            <a:r>
              <a:rPr lang="en-US" sz="4000" b="1" dirty="0">
                <a:solidFill>
                  <a:srgbClr val="C97A3D"/>
                </a:solidFill>
                <a:latin typeface="Cambria" pitchFamily="34" charset="0"/>
                <a:ea typeface="Cambria" pitchFamily="34" charset="-122"/>
                <a:cs typeface="Cambria" pitchFamily="34" charset="-120"/>
              </a:rPr>
              <a:t>~30 min</a:t>
            </a:r>
            <a:endParaRPr lang="en-US" sz="4000" dirty="0"/>
          </a:p>
        </p:txBody>
      </p:sp>
      <p:sp>
        <p:nvSpPr>
          <p:cNvPr id="11" name="Text 9"/>
          <p:cNvSpPr/>
          <p:nvPr/>
        </p:nvSpPr>
        <p:spPr>
          <a:xfrm>
            <a:off x="3063240" y="4754880"/>
            <a:ext cx="2331720" cy="1097280"/>
          </a:xfrm>
          <a:prstGeom prst="rect">
            <a:avLst/>
          </a:prstGeom>
          <a:noFill/>
          <a:ln/>
        </p:spPr>
        <p:txBody>
          <a:bodyPr wrap="square" lIns="0" tIns="0" rIns="0" bIns="0" rtlCol="0" anchor="ctr"/>
          <a:lstStyle/>
          <a:p>
            <a:pPr indent="0" marL="0">
              <a:lnSpc>
                <a:spcPct val="125000"/>
              </a:lnSpc>
              <a:buNone/>
            </a:pPr>
            <a:r>
              <a:rPr lang="en-US" sz="1200" dirty="0">
                <a:solidFill>
                  <a:srgbClr val="52616B"/>
                </a:solidFill>
                <a:latin typeface="Calibri" pitchFamily="34" charset="0"/>
                <a:ea typeface="Calibri" pitchFamily="34" charset="-122"/>
                <a:cs typeface="Calibri" pitchFamily="34" charset="-120"/>
              </a:rPr>
              <a:t>perdues chaque jour en tâches administratives, par magasin</a:t>
            </a:r>
            <a:endParaRPr lang="en-US" sz="1200" dirty="0"/>
          </a:p>
        </p:txBody>
      </p:sp>
      <p:sp>
        <p:nvSpPr>
          <p:cNvPr id="12" name="Shape 10"/>
          <p:cNvSpPr/>
          <p:nvPr/>
        </p:nvSpPr>
        <p:spPr>
          <a:xfrm>
            <a:off x="5989320" y="2514600"/>
            <a:ext cx="2711196" cy="868680"/>
          </a:xfrm>
          <a:prstGeom prst="roundRect">
            <a:avLst>
              <a:gd name="adj" fmla="val 12632"/>
            </a:avLst>
          </a:prstGeom>
          <a:solidFill>
            <a:srgbClr val="1F6F63"/>
          </a:solidFill>
          <a:ln w="15875">
            <a:solidFill>
              <a:srgbClr val="1F6F63"/>
            </a:solidFill>
            <a:prstDash val="solid"/>
          </a:ln>
        </p:spPr>
      </p:sp>
      <p:sp>
        <p:nvSpPr>
          <p:cNvPr id="13" name="Text 11"/>
          <p:cNvSpPr/>
          <p:nvPr/>
        </p:nvSpPr>
        <p:spPr>
          <a:xfrm>
            <a:off x="6190488" y="2514600"/>
            <a:ext cx="2345436" cy="86868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Contrôle des ordonnances</a:t>
            </a:r>
            <a:endParaRPr lang="en-US" sz="1300" dirty="0"/>
          </a:p>
        </p:txBody>
      </p:sp>
      <p:sp>
        <p:nvSpPr>
          <p:cNvPr id="14" name="Shape 12"/>
          <p:cNvSpPr/>
          <p:nvPr/>
        </p:nvSpPr>
        <p:spPr>
          <a:xfrm>
            <a:off x="8901684" y="2514600"/>
            <a:ext cx="2711196" cy="868680"/>
          </a:xfrm>
          <a:prstGeom prst="roundRect">
            <a:avLst>
              <a:gd name="adj" fmla="val 12632"/>
            </a:avLst>
          </a:prstGeom>
          <a:solidFill>
            <a:srgbClr val="1F6F63"/>
          </a:solidFill>
          <a:ln w="15875">
            <a:solidFill>
              <a:srgbClr val="1F6F63"/>
            </a:solidFill>
            <a:prstDash val="solid"/>
          </a:ln>
        </p:spPr>
      </p:sp>
      <p:sp>
        <p:nvSpPr>
          <p:cNvPr id="15" name="Text 13"/>
          <p:cNvSpPr/>
          <p:nvPr/>
        </p:nvSpPr>
        <p:spPr>
          <a:xfrm>
            <a:off x="9102852" y="2514600"/>
            <a:ext cx="2345436" cy="86868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Vérification des prises en charge</a:t>
            </a:r>
            <a:endParaRPr lang="en-US" sz="1300" dirty="0"/>
          </a:p>
        </p:txBody>
      </p:sp>
      <p:sp>
        <p:nvSpPr>
          <p:cNvPr id="16" name="Shape 14"/>
          <p:cNvSpPr/>
          <p:nvPr/>
        </p:nvSpPr>
        <p:spPr>
          <a:xfrm>
            <a:off x="5989320" y="3584448"/>
            <a:ext cx="2711196" cy="868680"/>
          </a:xfrm>
          <a:prstGeom prst="roundRect">
            <a:avLst>
              <a:gd name="adj" fmla="val 12632"/>
            </a:avLst>
          </a:prstGeom>
          <a:solidFill>
            <a:srgbClr val="FFFFFF"/>
          </a:solidFill>
          <a:ln w="15875">
            <a:solidFill>
              <a:srgbClr val="E0E5E4"/>
            </a:solidFill>
            <a:prstDash val="solid"/>
          </a:ln>
        </p:spPr>
      </p:sp>
      <p:sp>
        <p:nvSpPr>
          <p:cNvPr id="17" name="Text 15"/>
          <p:cNvSpPr/>
          <p:nvPr/>
        </p:nvSpPr>
        <p:spPr>
          <a:xfrm>
            <a:off x="6190488" y="3584448"/>
            <a:ext cx="2345436" cy="868680"/>
          </a:xfrm>
          <a:prstGeom prst="rect">
            <a:avLst/>
          </a:prstGeom>
          <a:noFill/>
          <a:ln/>
        </p:spPr>
        <p:txBody>
          <a:bodyPr wrap="square" lIns="0" tIns="0" rIns="0" bIns="0" rtlCol="0" anchor="ctr"/>
          <a:lstStyle/>
          <a:p>
            <a:pPr indent="0" marL="0">
              <a:lnSpc>
                <a:spcPct val="115000"/>
              </a:lnSpc>
              <a:buNone/>
            </a:pPr>
            <a:r>
              <a:rPr lang="en-US" sz="1300" dirty="0">
                <a:solidFill>
                  <a:srgbClr val="12181B"/>
                </a:solidFill>
                <a:latin typeface="Calibri" pitchFamily="34" charset="0"/>
                <a:ea typeface="Calibri" pitchFamily="34" charset="-122"/>
                <a:cs typeface="Calibri" pitchFamily="34" charset="-120"/>
              </a:rPr>
              <a:t>Rapprochement des documents</a:t>
            </a:r>
            <a:endParaRPr lang="en-US" sz="1300" dirty="0"/>
          </a:p>
        </p:txBody>
      </p:sp>
      <p:sp>
        <p:nvSpPr>
          <p:cNvPr id="18" name="Shape 16"/>
          <p:cNvSpPr/>
          <p:nvPr/>
        </p:nvSpPr>
        <p:spPr>
          <a:xfrm>
            <a:off x="8901684" y="3584448"/>
            <a:ext cx="2711196" cy="868680"/>
          </a:xfrm>
          <a:prstGeom prst="roundRect">
            <a:avLst>
              <a:gd name="adj" fmla="val 12632"/>
            </a:avLst>
          </a:prstGeom>
          <a:solidFill>
            <a:srgbClr val="1F6F63"/>
          </a:solidFill>
          <a:ln w="15875">
            <a:solidFill>
              <a:srgbClr val="1F6F63"/>
            </a:solidFill>
            <a:prstDash val="solid"/>
          </a:ln>
        </p:spPr>
      </p:sp>
      <p:sp>
        <p:nvSpPr>
          <p:cNvPr id="19" name="Text 17"/>
          <p:cNvSpPr/>
          <p:nvPr/>
        </p:nvSpPr>
        <p:spPr>
          <a:xfrm>
            <a:off x="9102852" y="3584448"/>
            <a:ext cx="2345436" cy="86868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Suivi des remboursements</a:t>
            </a:r>
            <a:endParaRPr lang="en-US" sz="1300" dirty="0"/>
          </a:p>
        </p:txBody>
      </p:sp>
      <p:sp>
        <p:nvSpPr>
          <p:cNvPr id="20" name="Shape 18"/>
          <p:cNvSpPr/>
          <p:nvPr/>
        </p:nvSpPr>
        <p:spPr>
          <a:xfrm>
            <a:off x="5989320" y="4654296"/>
            <a:ext cx="2711196" cy="868680"/>
          </a:xfrm>
          <a:prstGeom prst="roundRect">
            <a:avLst>
              <a:gd name="adj" fmla="val 12632"/>
            </a:avLst>
          </a:prstGeom>
          <a:solidFill>
            <a:srgbClr val="FFFFFF"/>
          </a:solidFill>
          <a:ln w="15875">
            <a:solidFill>
              <a:srgbClr val="E0E5E4"/>
            </a:solidFill>
            <a:prstDash val="solid"/>
          </a:ln>
        </p:spPr>
      </p:sp>
      <p:sp>
        <p:nvSpPr>
          <p:cNvPr id="21" name="Text 19"/>
          <p:cNvSpPr/>
          <p:nvPr/>
        </p:nvSpPr>
        <p:spPr>
          <a:xfrm>
            <a:off x="6190488" y="4654296"/>
            <a:ext cx="2345436" cy="868680"/>
          </a:xfrm>
          <a:prstGeom prst="rect">
            <a:avLst/>
          </a:prstGeom>
          <a:noFill/>
          <a:ln/>
        </p:spPr>
        <p:txBody>
          <a:bodyPr wrap="square" lIns="0" tIns="0" rIns="0" bIns="0" rtlCol="0" anchor="ctr"/>
          <a:lstStyle/>
          <a:p>
            <a:pPr indent="0" marL="0">
              <a:lnSpc>
                <a:spcPct val="115000"/>
              </a:lnSpc>
              <a:buNone/>
            </a:pPr>
            <a:r>
              <a:rPr lang="en-US" sz="1300" dirty="0">
                <a:solidFill>
                  <a:srgbClr val="12181B"/>
                </a:solidFill>
                <a:latin typeface="Calibri" pitchFamily="34" charset="0"/>
                <a:ea typeface="Calibri" pitchFamily="34" charset="-122"/>
                <a:cs typeface="Calibri" pitchFamily="34" charset="-120"/>
              </a:rPr>
              <a:t>Traitement des rejets</a:t>
            </a:r>
            <a:endParaRPr lang="en-US" sz="1300" dirty="0"/>
          </a:p>
        </p:txBody>
      </p:sp>
      <p:sp>
        <p:nvSpPr>
          <p:cNvPr id="22" name="Shape 20"/>
          <p:cNvSpPr/>
          <p:nvPr/>
        </p:nvSpPr>
        <p:spPr>
          <a:xfrm>
            <a:off x="8901684" y="4654296"/>
            <a:ext cx="2711196" cy="868680"/>
          </a:xfrm>
          <a:prstGeom prst="roundRect">
            <a:avLst>
              <a:gd name="adj" fmla="val 12632"/>
            </a:avLst>
          </a:prstGeom>
          <a:solidFill>
            <a:srgbClr val="FFFFFF"/>
          </a:solidFill>
          <a:ln w="15875">
            <a:solidFill>
              <a:srgbClr val="E0E5E4"/>
            </a:solidFill>
            <a:prstDash val="solid"/>
          </a:ln>
        </p:spPr>
      </p:sp>
      <p:sp>
        <p:nvSpPr>
          <p:cNvPr id="23" name="Text 21"/>
          <p:cNvSpPr/>
          <p:nvPr/>
        </p:nvSpPr>
        <p:spPr>
          <a:xfrm>
            <a:off x="9102852" y="4654296"/>
            <a:ext cx="2345436" cy="868680"/>
          </a:xfrm>
          <a:prstGeom prst="rect">
            <a:avLst/>
          </a:prstGeom>
          <a:noFill/>
          <a:ln/>
        </p:spPr>
        <p:txBody>
          <a:bodyPr wrap="square" lIns="0" tIns="0" rIns="0" bIns="0" rtlCol="0" anchor="ctr"/>
          <a:lstStyle/>
          <a:p>
            <a:pPr indent="0" marL="0">
              <a:lnSpc>
                <a:spcPct val="115000"/>
              </a:lnSpc>
              <a:buNone/>
            </a:pPr>
            <a:r>
              <a:rPr lang="en-US" sz="1300" dirty="0">
                <a:solidFill>
                  <a:srgbClr val="12181B"/>
                </a:solidFill>
                <a:latin typeface="Calibri" pitchFamily="34" charset="0"/>
                <a:ea typeface="Calibri" pitchFamily="34" charset="-122"/>
                <a:cs typeface="Calibri" pitchFamily="34" charset="-120"/>
              </a:rPr>
              <a:t>Relances administratives</a:t>
            </a:r>
            <a:endParaRPr lang="en-US" sz="1300" dirty="0"/>
          </a:p>
        </p:txBody>
      </p:sp>
      <p:sp>
        <p:nvSpPr>
          <p:cNvPr id="24" name="Text 22"/>
          <p:cNvSpPr/>
          <p:nvPr/>
        </p:nvSpPr>
        <p:spPr>
          <a:xfrm>
            <a:off x="10728655" y="6400800"/>
            <a:ext cx="118872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OKIU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548640" y="429768"/>
            <a:ext cx="237744" cy="237744"/>
          </a:xfrm>
          <a:prstGeom prst="ellipse">
            <a:avLst/>
          </a:prstGeom>
          <a:ln w="28575">
            <a:solidFill>
              <a:srgbClr val="1F6F63"/>
            </a:solidFill>
            <a:prstDash val="solid"/>
          </a:ln>
        </p:spPr>
      </p:sp>
      <p:sp>
        <p:nvSpPr>
          <p:cNvPr id="3" name="Shape 1"/>
          <p:cNvSpPr/>
          <p:nvPr/>
        </p:nvSpPr>
        <p:spPr>
          <a:xfrm>
            <a:off x="736933" y="422160"/>
            <a:ext cx="76078" cy="76078"/>
          </a:xfrm>
          <a:prstGeom prst="ellipse">
            <a:avLst/>
          </a:prstGeom>
          <a:solidFill>
            <a:srgbClr val="C97A3D"/>
          </a:solidFill>
          <a:ln/>
        </p:spPr>
      </p:sp>
      <p:sp>
        <p:nvSpPr>
          <p:cNvPr id="4" name="Text 2"/>
          <p:cNvSpPr/>
          <p:nvPr/>
        </p:nvSpPr>
        <p:spPr>
          <a:xfrm>
            <a:off x="914400" y="329184"/>
            <a:ext cx="1828800" cy="365760"/>
          </a:xfrm>
          <a:prstGeom prst="rect">
            <a:avLst/>
          </a:prstGeom>
          <a:noFill/>
          <a:ln/>
        </p:spPr>
        <p:txBody>
          <a:bodyPr wrap="square" lIns="0" tIns="0" rIns="0" bIns="0" rtlCol="0" anchor="ctr"/>
          <a:lstStyle/>
          <a:p>
            <a:pPr indent="0" marL="0">
              <a:buNone/>
            </a:pPr>
            <a:r>
              <a:rPr lang="en-US" sz="1700" b="1" dirty="0">
                <a:solidFill>
                  <a:srgbClr val="12181B"/>
                </a:solidFill>
                <a:latin typeface="Cambria" pitchFamily="34" charset="0"/>
                <a:ea typeface="Cambria" pitchFamily="34" charset="-122"/>
                <a:cs typeface="Cambria" pitchFamily="34" charset="-120"/>
              </a:rPr>
              <a:t>OKIU</a:t>
            </a:r>
            <a:endParaRPr lang="en-US" sz="1700" dirty="0"/>
          </a:p>
        </p:txBody>
      </p:sp>
      <p:sp>
        <p:nvSpPr>
          <p:cNvPr id="5" name="Shape 3"/>
          <p:cNvSpPr/>
          <p:nvPr/>
        </p:nvSpPr>
        <p:spPr>
          <a:xfrm>
            <a:off x="566928" y="1316736"/>
            <a:ext cx="82296" cy="82296"/>
          </a:xfrm>
          <a:prstGeom prst="ellipse">
            <a:avLst/>
          </a:prstGeom>
          <a:solidFill>
            <a:srgbClr val="1F6F63"/>
          </a:solidFill>
          <a:ln/>
        </p:spPr>
      </p:sp>
      <p:sp>
        <p:nvSpPr>
          <p:cNvPr id="6" name="Text 4"/>
          <p:cNvSpPr/>
          <p:nvPr/>
        </p:nvSpPr>
        <p:spPr>
          <a:xfrm>
            <a:off x="749808" y="1179576"/>
            <a:ext cx="7315200" cy="274320"/>
          </a:xfrm>
          <a:prstGeom prst="rect">
            <a:avLst/>
          </a:prstGeom>
          <a:noFill/>
          <a:ln/>
        </p:spPr>
        <p:txBody>
          <a:bodyPr wrap="square" lIns="0" tIns="0" rIns="0" bIns="0" rtlCol="0" anchor="ctr"/>
          <a:lstStyle/>
          <a:p>
            <a:pPr indent="0" marL="0">
              <a:buNone/>
            </a:pPr>
            <a:r>
              <a:rPr lang="en-US" sz="1250" b="1" spc="200" kern="0" dirty="0">
                <a:solidFill>
                  <a:srgbClr val="1F6F63"/>
                </a:solidFill>
                <a:latin typeface="Calibri" pitchFamily="34" charset="0"/>
                <a:ea typeface="Calibri" pitchFamily="34" charset="-122"/>
                <a:cs typeface="Calibri" pitchFamily="34" charset="-120"/>
              </a:rPr>
              <a:t>LA SOLUTION</a:t>
            </a:r>
            <a:endParaRPr lang="en-US" sz="1250" dirty="0"/>
          </a:p>
        </p:txBody>
      </p:sp>
      <p:sp>
        <p:nvSpPr>
          <p:cNvPr id="7" name="Text 5"/>
          <p:cNvSpPr/>
          <p:nvPr/>
        </p:nvSpPr>
        <p:spPr>
          <a:xfrm>
            <a:off x="548640" y="1508760"/>
            <a:ext cx="10881360" cy="822960"/>
          </a:xfrm>
          <a:prstGeom prst="rect">
            <a:avLst/>
          </a:prstGeom>
          <a:noFill/>
          <a:ln/>
        </p:spPr>
        <p:txBody>
          <a:bodyPr wrap="square" lIns="0" tIns="0" rIns="0" bIns="0" rtlCol="0" anchor="ctr"/>
          <a:lstStyle/>
          <a:p>
            <a:pPr indent="0" marL="0">
              <a:lnSpc>
                <a:spcPct val="108000"/>
              </a:lnSpc>
              <a:buNone/>
            </a:pPr>
            <a:r>
              <a:rPr lang="en-US" sz="2700" b="1" dirty="0">
                <a:solidFill>
                  <a:srgbClr val="12181B"/>
                </a:solidFill>
                <a:latin typeface="Cambria" pitchFamily="34" charset="0"/>
                <a:ea typeface="Cambria" pitchFamily="34" charset="-122"/>
                <a:cs typeface="Cambria" pitchFamily="34" charset="-120"/>
              </a:rPr>
              <a:t>Un copilote qui s'installe au-dessus de vos outils, pas à leur place.</a:t>
            </a:r>
            <a:endParaRPr lang="en-US" sz="2700" dirty="0"/>
          </a:p>
        </p:txBody>
      </p:sp>
      <p:sp>
        <p:nvSpPr>
          <p:cNvPr id="8" name="Shape 6"/>
          <p:cNvSpPr/>
          <p:nvPr/>
        </p:nvSpPr>
        <p:spPr>
          <a:xfrm>
            <a:off x="548640" y="2606040"/>
            <a:ext cx="3520440" cy="3383280"/>
          </a:xfrm>
          <a:prstGeom prst="roundRect">
            <a:avLst>
              <a:gd name="adj" fmla="val 4324"/>
            </a:avLst>
          </a:prstGeom>
          <a:solidFill>
            <a:srgbClr val="FFFFFF"/>
          </a:solidFill>
          <a:ln/>
          <a:effectLst>
            <a:outerShdw sx="100000" sy="100000" kx="0" ky="0" algn="bl" rotWithShape="0" blurRad="127000" dist="38100" dir="5400000">
              <a:srgbClr val="12181B">
                <a:alpha val="12000"/>
              </a:srgbClr>
            </a:outerShdw>
          </a:effectLst>
        </p:spPr>
      </p:sp>
      <p:sp>
        <p:nvSpPr>
          <p:cNvPr id="9" name="Shape 7"/>
          <p:cNvSpPr/>
          <p:nvPr/>
        </p:nvSpPr>
        <p:spPr>
          <a:xfrm>
            <a:off x="841248" y="2898648"/>
            <a:ext cx="566928" cy="566928"/>
          </a:xfrm>
          <a:prstGeom prst="ellipse">
            <a:avLst/>
          </a:prstGeom>
          <a:solidFill>
            <a:srgbClr val="16544B"/>
          </a:solidFill>
          <a:ln/>
        </p:spPr>
      </p:sp>
      <p:sp>
        <p:nvSpPr>
          <p:cNvPr id="10" name="Text 8"/>
          <p:cNvSpPr/>
          <p:nvPr/>
        </p:nvSpPr>
        <p:spPr>
          <a:xfrm>
            <a:off x="841248" y="289864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11" name="Text 9"/>
          <p:cNvSpPr/>
          <p:nvPr/>
        </p:nvSpPr>
        <p:spPr>
          <a:xfrm>
            <a:off x="841248" y="3657600"/>
            <a:ext cx="2935224" cy="457200"/>
          </a:xfrm>
          <a:prstGeom prst="rect">
            <a:avLst/>
          </a:prstGeom>
          <a:noFill/>
          <a:ln/>
        </p:spPr>
        <p:txBody>
          <a:bodyPr wrap="square" lIns="0" tIns="0" rIns="0" bIns="0" rtlCol="0" anchor="ctr"/>
          <a:lstStyle/>
          <a:p>
            <a:pPr indent="0" marL="0">
              <a:buNone/>
            </a:pPr>
            <a:r>
              <a:rPr lang="en-US" sz="1800" b="1" dirty="0">
                <a:solidFill>
                  <a:srgbClr val="12181B"/>
                </a:solidFill>
                <a:latin typeface="Cambria" pitchFamily="34" charset="0"/>
                <a:ea typeface="Cambria" pitchFamily="34" charset="-122"/>
                <a:cs typeface="Cambria" pitchFamily="34" charset="-120"/>
              </a:rPr>
              <a:t>Il observe</a:t>
            </a:r>
            <a:endParaRPr lang="en-US" sz="1800" dirty="0"/>
          </a:p>
        </p:txBody>
      </p:sp>
      <p:sp>
        <p:nvSpPr>
          <p:cNvPr id="12" name="Text 10"/>
          <p:cNvSpPr/>
          <p:nvPr/>
        </p:nvSpPr>
        <p:spPr>
          <a:xfrm>
            <a:off x="841248" y="4160520"/>
            <a:ext cx="2935224" cy="1554480"/>
          </a:xfrm>
          <a:prstGeom prst="rect">
            <a:avLst/>
          </a:prstGeom>
          <a:noFill/>
          <a:ln/>
        </p:spPr>
        <p:txBody>
          <a:bodyPr wrap="square" lIns="0" tIns="0" rIns="0" bIns="0" rtlCol="0" anchor="ctr"/>
          <a:lstStyle/>
          <a:p>
            <a:pPr indent="0" marL="0">
              <a:lnSpc>
                <a:spcPct val="132000"/>
              </a:lnSpc>
              <a:buNone/>
            </a:pPr>
            <a:r>
              <a:rPr lang="en-US" sz="1250" dirty="0">
                <a:solidFill>
                  <a:srgbClr val="52616B"/>
                </a:solidFill>
                <a:latin typeface="Calibri" pitchFamily="34" charset="0"/>
                <a:ea typeface="Calibri" pitchFamily="34" charset="-122"/>
                <a:cs typeface="Calibri" pitchFamily="34" charset="-120"/>
              </a:rPr>
              <a:t>OKIU regarde votre logiciel habituel et vos e-mails, sans rien changer à vos habitudes de travail ni à vos outils.</a:t>
            </a:r>
            <a:endParaRPr lang="en-US" sz="1250" dirty="0"/>
          </a:p>
        </p:txBody>
      </p:sp>
      <p:sp>
        <p:nvSpPr>
          <p:cNvPr id="13" name="Shape 11"/>
          <p:cNvSpPr/>
          <p:nvPr/>
        </p:nvSpPr>
        <p:spPr>
          <a:xfrm>
            <a:off x="4343400" y="2606040"/>
            <a:ext cx="3520440" cy="3383280"/>
          </a:xfrm>
          <a:prstGeom prst="roundRect">
            <a:avLst>
              <a:gd name="adj" fmla="val 4324"/>
            </a:avLst>
          </a:prstGeom>
          <a:solidFill>
            <a:srgbClr val="FFFFFF"/>
          </a:solidFill>
          <a:ln/>
          <a:effectLst>
            <a:outerShdw sx="100000" sy="100000" kx="0" ky="0" algn="bl" rotWithShape="0" blurRad="127000" dist="38100" dir="5400000">
              <a:srgbClr val="12181B">
                <a:alpha val="12000"/>
              </a:srgbClr>
            </a:outerShdw>
          </a:effectLst>
        </p:spPr>
      </p:sp>
      <p:sp>
        <p:nvSpPr>
          <p:cNvPr id="14" name="Shape 12"/>
          <p:cNvSpPr/>
          <p:nvPr/>
        </p:nvSpPr>
        <p:spPr>
          <a:xfrm>
            <a:off x="4636008" y="2898648"/>
            <a:ext cx="566928" cy="566928"/>
          </a:xfrm>
          <a:prstGeom prst="ellipse">
            <a:avLst/>
          </a:prstGeom>
          <a:solidFill>
            <a:srgbClr val="16544B"/>
          </a:solidFill>
          <a:ln/>
        </p:spPr>
      </p:sp>
      <p:sp>
        <p:nvSpPr>
          <p:cNvPr id="15" name="Text 13"/>
          <p:cNvSpPr/>
          <p:nvPr/>
        </p:nvSpPr>
        <p:spPr>
          <a:xfrm>
            <a:off x="4636008" y="289864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6" name="Text 14"/>
          <p:cNvSpPr/>
          <p:nvPr/>
        </p:nvSpPr>
        <p:spPr>
          <a:xfrm>
            <a:off x="4636008" y="3657600"/>
            <a:ext cx="2935224" cy="457200"/>
          </a:xfrm>
          <a:prstGeom prst="rect">
            <a:avLst/>
          </a:prstGeom>
          <a:noFill/>
          <a:ln/>
        </p:spPr>
        <p:txBody>
          <a:bodyPr wrap="square" lIns="0" tIns="0" rIns="0" bIns="0" rtlCol="0" anchor="ctr"/>
          <a:lstStyle/>
          <a:p>
            <a:pPr indent="0" marL="0">
              <a:buNone/>
            </a:pPr>
            <a:r>
              <a:rPr lang="en-US" sz="1800" b="1" dirty="0">
                <a:solidFill>
                  <a:srgbClr val="12181B"/>
                </a:solidFill>
                <a:latin typeface="Cambria" pitchFamily="34" charset="0"/>
                <a:ea typeface="Cambria" pitchFamily="34" charset="-122"/>
                <a:cs typeface="Cambria" pitchFamily="34" charset="-120"/>
              </a:rPr>
              <a:t>Il vérifie et agit</a:t>
            </a:r>
            <a:endParaRPr lang="en-US" sz="1800" dirty="0"/>
          </a:p>
        </p:txBody>
      </p:sp>
      <p:sp>
        <p:nvSpPr>
          <p:cNvPr id="17" name="Text 15"/>
          <p:cNvSpPr/>
          <p:nvPr/>
        </p:nvSpPr>
        <p:spPr>
          <a:xfrm>
            <a:off x="4636008" y="4160520"/>
            <a:ext cx="2935224" cy="1554480"/>
          </a:xfrm>
          <a:prstGeom prst="rect">
            <a:avLst/>
          </a:prstGeom>
          <a:noFill/>
          <a:ln/>
        </p:spPr>
        <p:txBody>
          <a:bodyPr wrap="square" lIns="0" tIns="0" rIns="0" bIns="0" rtlCol="0" anchor="ctr"/>
          <a:lstStyle/>
          <a:p>
            <a:pPr indent="0" marL="0">
              <a:lnSpc>
                <a:spcPct val="132000"/>
              </a:lnSpc>
              <a:buNone/>
            </a:pPr>
            <a:r>
              <a:rPr lang="en-US" sz="1250" dirty="0">
                <a:solidFill>
                  <a:srgbClr val="52616B"/>
                </a:solidFill>
                <a:latin typeface="Calibri" pitchFamily="34" charset="0"/>
                <a:ea typeface="Calibri" pitchFamily="34" charset="-122"/>
                <a:cs typeface="Calibri" pitchFamily="34" charset="-120"/>
              </a:rPr>
              <a:t>Quand une tâche est fiable et bien maîtrisée, OKIU l'exécute lui-même : recherche du dossier, envoi de la demande, suivi de la réponse.</a:t>
            </a:r>
            <a:endParaRPr lang="en-US" sz="1250" dirty="0"/>
          </a:p>
        </p:txBody>
      </p:sp>
      <p:sp>
        <p:nvSpPr>
          <p:cNvPr id="18" name="Shape 16"/>
          <p:cNvSpPr/>
          <p:nvPr/>
        </p:nvSpPr>
        <p:spPr>
          <a:xfrm>
            <a:off x="8138160" y="2606040"/>
            <a:ext cx="3520440" cy="3383280"/>
          </a:xfrm>
          <a:prstGeom prst="roundRect">
            <a:avLst>
              <a:gd name="adj" fmla="val 4324"/>
            </a:avLst>
          </a:prstGeom>
          <a:solidFill>
            <a:srgbClr val="FFFFFF"/>
          </a:solidFill>
          <a:ln/>
          <a:effectLst>
            <a:outerShdw sx="100000" sy="100000" kx="0" ky="0" algn="bl" rotWithShape="0" blurRad="127000" dist="38100" dir="5400000">
              <a:srgbClr val="12181B">
                <a:alpha val="12000"/>
              </a:srgbClr>
            </a:outerShdw>
          </a:effectLst>
        </p:spPr>
      </p:sp>
      <p:sp>
        <p:nvSpPr>
          <p:cNvPr id="19" name="Shape 17"/>
          <p:cNvSpPr/>
          <p:nvPr/>
        </p:nvSpPr>
        <p:spPr>
          <a:xfrm>
            <a:off x="8430768" y="2898648"/>
            <a:ext cx="566928" cy="566928"/>
          </a:xfrm>
          <a:prstGeom prst="ellipse">
            <a:avLst/>
          </a:prstGeom>
          <a:solidFill>
            <a:srgbClr val="16544B"/>
          </a:solidFill>
          <a:ln/>
        </p:spPr>
      </p:sp>
      <p:sp>
        <p:nvSpPr>
          <p:cNvPr id="20" name="Text 18"/>
          <p:cNvSpPr/>
          <p:nvPr/>
        </p:nvSpPr>
        <p:spPr>
          <a:xfrm>
            <a:off x="8430768" y="289864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21" name="Text 19"/>
          <p:cNvSpPr/>
          <p:nvPr/>
        </p:nvSpPr>
        <p:spPr>
          <a:xfrm>
            <a:off x="8430768" y="3657600"/>
            <a:ext cx="2935224" cy="457200"/>
          </a:xfrm>
          <a:prstGeom prst="rect">
            <a:avLst/>
          </a:prstGeom>
          <a:noFill/>
          <a:ln/>
        </p:spPr>
        <p:txBody>
          <a:bodyPr wrap="square" lIns="0" tIns="0" rIns="0" bIns="0" rtlCol="0" anchor="ctr"/>
          <a:lstStyle/>
          <a:p>
            <a:pPr indent="0" marL="0">
              <a:buNone/>
            </a:pPr>
            <a:r>
              <a:rPr lang="en-US" sz="1800" b="1" dirty="0">
                <a:solidFill>
                  <a:srgbClr val="12181B"/>
                </a:solidFill>
                <a:latin typeface="Cambria" pitchFamily="34" charset="0"/>
                <a:ea typeface="Cambria" pitchFamily="34" charset="-122"/>
                <a:cs typeface="Cambria" pitchFamily="34" charset="-120"/>
              </a:rPr>
              <a:t>Il vous alerte si besoin</a:t>
            </a:r>
            <a:endParaRPr lang="en-US" sz="1800" dirty="0"/>
          </a:p>
        </p:txBody>
      </p:sp>
      <p:sp>
        <p:nvSpPr>
          <p:cNvPr id="22" name="Text 20"/>
          <p:cNvSpPr/>
          <p:nvPr/>
        </p:nvSpPr>
        <p:spPr>
          <a:xfrm>
            <a:off x="8430768" y="4160520"/>
            <a:ext cx="2935224" cy="1554480"/>
          </a:xfrm>
          <a:prstGeom prst="rect">
            <a:avLst/>
          </a:prstGeom>
          <a:noFill/>
          <a:ln/>
        </p:spPr>
        <p:txBody>
          <a:bodyPr wrap="square" lIns="0" tIns="0" rIns="0" bIns="0" rtlCol="0" anchor="ctr"/>
          <a:lstStyle/>
          <a:p>
            <a:pPr indent="0" marL="0">
              <a:lnSpc>
                <a:spcPct val="132000"/>
              </a:lnSpc>
              <a:buNone/>
            </a:pPr>
            <a:r>
              <a:rPr lang="en-US" sz="1250" dirty="0">
                <a:solidFill>
                  <a:srgbClr val="52616B"/>
                </a:solidFill>
                <a:latin typeface="Calibri" pitchFamily="34" charset="0"/>
                <a:ea typeface="Calibri" pitchFamily="34" charset="-122"/>
                <a:cs typeface="Calibri" pitchFamily="34" charset="-120"/>
              </a:rPr>
              <a:t>Erreur, ambiguïté, dossier incomplet : OKIU s'arrête et vous prévient. Jamais d'action à l'aveugle.</a:t>
            </a:r>
            <a:endParaRPr lang="en-US" sz="1250" dirty="0"/>
          </a:p>
        </p:txBody>
      </p:sp>
      <p:sp>
        <p:nvSpPr>
          <p:cNvPr id="23" name="Text 21"/>
          <p:cNvSpPr/>
          <p:nvPr/>
        </p:nvSpPr>
        <p:spPr>
          <a:xfrm>
            <a:off x="10728655" y="6400800"/>
            <a:ext cx="118872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OKIU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237744" cy="237744"/>
          </a:xfrm>
          <a:prstGeom prst="ellipse">
            <a:avLst/>
          </a:prstGeom>
          <a:ln w="28575">
            <a:solidFill>
              <a:srgbClr val="1F6F63"/>
            </a:solidFill>
            <a:prstDash val="solid"/>
          </a:ln>
        </p:spPr>
      </p:sp>
      <p:sp>
        <p:nvSpPr>
          <p:cNvPr id="3" name="Shape 1"/>
          <p:cNvSpPr/>
          <p:nvPr/>
        </p:nvSpPr>
        <p:spPr>
          <a:xfrm>
            <a:off x="736933" y="422160"/>
            <a:ext cx="76078" cy="76078"/>
          </a:xfrm>
          <a:prstGeom prst="ellipse">
            <a:avLst/>
          </a:prstGeom>
          <a:solidFill>
            <a:srgbClr val="C97A3D"/>
          </a:solidFill>
          <a:ln/>
        </p:spPr>
      </p:sp>
      <p:sp>
        <p:nvSpPr>
          <p:cNvPr id="4" name="Text 2"/>
          <p:cNvSpPr/>
          <p:nvPr/>
        </p:nvSpPr>
        <p:spPr>
          <a:xfrm>
            <a:off x="914400" y="329184"/>
            <a:ext cx="1828800" cy="365760"/>
          </a:xfrm>
          <a:prstGeom prst="rect">
            <a:avLst/>
          </a:prstGeom>
          <a:noFill/>
          <a:ln/>
        </p:spPr>
        <p:txBody>
          <a:bodyPr wrap="square" lIns="0" tIns="0" rIns="0" bIns="0" rtlCol="0" anchor="ctr"/>
          <a:lstStyle/>
          <a:p>
            <a:pPr indent="0" marL="0">
              <a:buNone/>
            </a:pPr>
            <a:r>
              <a:rPr lang="en-US" sz="1700" b="1" dirty="0">
                <a:solidFill>
                  <a:srgbClr val="12181B"/>
                </a:solidFill>
                <a:latin typeface="Cambria" pitchFamily="34" charset="0"/>
                <a:ea typeface="Cambria" pitchFamily="34" charset="-122"/>
                <a:cs typeface="Cambria" pitchFamily="34" charset="-120"/>
              </a:rPr>
              <a:t>OKIU</a:t>
            </a:r>
            <a:endParaRPr lang="en-US" sz="1700" dirty="0"/>
          </a:p>
        </p:txBody>
      </p:sp>
      <p:sp>
        <p:nvSpPr>
          <p:cNvPr id="5" name="Shape 3"/>
          <p:cNvSpPr/>
          <p:nvPr/>
        </p:nvSpPr>
        <p:spPr>
          <a:xfrm>
            <a:off x="566928" y="1316736"/>
            <a:ext cx="82296" cy="82296"/>
          </a:xfrm>
          <a:prstGeom prst="ellipse">
            <a:avLst/>
          </a:prstGeom>
          <a:solidFill>
            <a:srgbClr val="1F6F63"/>
          </a:solidFill>
          <a:ln/>
        </p:spPr>
      </p:sp>
      <p:sp>
        <p:nvSpPr>
          <p:cNvPr id="6" name="Text 4"/>
          <p:cNvSpPr/>
          <p:nvPr/>
        </p:nvSpPr>
        <p:spPr>
          <a:xfrm>
            <a:off x="749808" y="1179576"/>
            <a:ext cx="7315200" cy="274320"/>
          </a:xfrm>
          <a:prstGeom prst="rect">
            <a:avLst/>
          </a:prstGeom>
          <a:noFill/>
          <a:ln/>
        </p:spPr>
        <p:txBody>
          <a:bodyPr wrap="square" lIns="0" tIns="0" rIns="0" bIns="0" rtlCol="0" anchor="ctr"/>
          <a:lstStyle/>
          <a:p>
            <a:pPr indent="0" marL="0">
              <a:buNone/>
            </a:pPr>
            <a:r>
              <a:rPr lang="en-US" sz="1250" b="1" spc="200" kern="0" dirty="0">
                <a:solidFill>
                  <a:srgbClr val="1F6F63"/>
                </a:solidFill>
                <a:latin typeface="Calibri" pitchFamily="34" charset="0"/>
                <a:ea typeface="Calibri" pitchFamily="34" charset="-122"/>
                <a:cs typeface="Calibri" pitchFamily="34" charset="-120"/>
              </a:rPr>
              <a:t>LE PARCOURS, CONCRÈTEMENT</a:t>
            </a:r>
            <a:endParaRPr lang="en-US" sz="1250" dirty="0"/>
          </a:p>
        </p:txBody>
      </p:sp>
      <p:sp>
        <p:nvSpPr>
          <p:cNvPr id="7" name="Text 5"/>
          <p:cNvSpPr/>
          <p:nvPr/>
        </p:nvSpPr>
        <p:spPr>
          <a:xfrm>
            <a:off x="548640" y="1508760"/>
            <a:ext cx="9144000" cy="640080"/>
          </a:xfrm>
          <a:prstGeom prst="rect">
            <a:avLst/>
          </a:prstGeom>
          <a:noFill/>
          <a:ln/>
        </p:spPr>
        <p:txBody>
          <a:bodyPr wrap="square" lIns="0" tIns="0" rIns="0" bIns="0" rtlCol="0" anchor="ctr"/>
          <a:lstStyle/>
          <a:p>
            <a:pPr indent="0" marL="0">
              <a:buNone/>
            </a:pPr>
            <a:r>
              <a:rPr lang="en-US" sz="2800" b="1" dirty="0">
                <a:solidFill>
                  <a:srgbClr val="12181B"/>
                </a:solidFill>
                <a:latin typeface="Cambria" pitchFamily="34" charset="0"/>
                <a:ea typeface="Cambria" pitchFamily="34" charset="-122"/>
                <a:cs typeface="Cambria" pitchFamily="34" charset="-120"/>
              </a:rPr>
              <a:t>Une journée avec OKIU</a:t>
            </a:r>
            <a:endParaRPr lang="en-US" sz="2800" dirty="0"/>
          </a:p>
        </p:txBody>
      </p:sp>
      <p:sp>
        <p:nvSpPr>
          <p:cNvPr id="8" name="Shape 6"/>
          <p:cNvSpPr/>
          <p:nvPr/>
        </p:nvSpPr>
        <p:spPr>
          <a:xfrm>
            <a:off x="758952" y="2542032"/>
            <a:ext cx="0" cy="3145536"/>
          </a:xfrm>
          <a:prstGeom prst="line">
            <a:avLst/>
          </a:prstGeom>
          <a:noFill/>
          <a:ln w="19050">
            <a:solidFill>
              <a:srgbClr val="E0E5E4"/>
            </a:solidFill>
            <a:prstDash val="solid"/>
          </a:ln>
        </p:spPr>
      </p:sp>
      <p:sp>
        <p:nvSpPr>
          <p:cNvPr id="9" name="Shape 7"/>
          <p:cNvSpPr/>
          <p:nvPr/>
        </p:nvSpPr>
        <p:spPr>
          <a:xfrm>
            <a:off x="548640" y="2331720"/>
            <a:ext cx="420624" cy="420624"/>
          </a:xfrm>
          <a:prstGeom prst="ellipse">
            <a:avLst/>
          </a:prstGeom>
          <a:solidFill>
            <a:srgbClr val="1F6F63"/>
          </a:solidFill>
          <a:ln/>
        </p:spPr>
      </p:sp>
      <p:sp>
        <p:nvSpPr>
          <p:cNvPr id="10" name="Text 8"/>
          <p:cNvSpPr/>
          <p:nvPr/>
        </p:nvSpPr>
        <p:spPr>
          <a:xfrm>
            <a:off x="548640"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1" name="Text 9"/>
          <p:cNvSpPr/>
          <p:nvPr/>
        </p:nvSpPr>
        <p:spPr>
          <a:xfrm>
            <a:off x="1289304" y="2276856"/>
            <a:ext cx="4663440" cy="365760"/>
          </a:xfrm>
          <a:prstGeom prst="rect">
            <a:avLst/>
          </a:prstGeom>
          <a:noFill/>
          <a:ln/>
        </p:spPr>
        <p:txBody>
          <a:bodyPr wrap="square" lIns="0" tIns="0" rIns="0" bIns="0" rtlCol="0" anchor="t"/>
          <a:lstStyle/>
          <a:p>
            <a:pPr indent="0" marL="0">
              <a:buNone/>
            </a:pPr>
            <a:r>
              <a:rPr lang="en-US" sz="1450" b="1" dirty="0">
                <a:solidFill>
                  <a:srgbClr val="12181B"/>
                </a:solidFill>
                <a:latin typeface="Cambria" pitchFamily="34" charset="0"/>
                <a:ea typeface="Cambria" pitchFamily="34" charset="-122"/>
                <a:cs typeface="Cambria" pitchFamily="34" charset="-120"/>
              </a:rPr>
              <a:t>Une vente est enregistrée</a:t>
            </a:r>
            <a:endParaRPr lang="en-US" sz="1450" dirty="0"/>
          </a:p>
        </p:txBody>
      </p:sp>
      <p:sp>
        <p:nvSpPr>
          <p:cNvPr id="12" name="Text 10"/>
          <p:cNvSpPr/>
          <p:nvPr/>
        </p:nvSpPr>
        <p:spPr>
          <a:xfrm>
            <a:off x="1289304" y="2587752"/>
            <a:ext cx="4663440" cy="502920"/>
          </a:xfrm>
          <a:prstGeom prst="rect">
            <a:avLst/>
          </a:prstGeom>
          <a:noFill/>
          <a:ln/>
        </p:spPr>
        <p:txBody>
          <a:bodyPr wrap="square" lIns="0" tIns="0" rIns="0" bIns="0" rtlCol="0" anchor="t"/>
          <a:lstStyle/>
          <a:p>
            <a:pPr indent="0" marL="0">
              <a:lnSpc>
                <a:spcPct val="120000"/>
              </a:lnSpc>
              <a:buNone/>
            </a:pPr>
            <a:r>
              <a:rPr lang="en-US" sz="1150" dirty="0">
                <a:solidFill>
                  <a:srgbClr val="52616B"/>
                </a:solidFill>
                <a:latin typeface="Calibri" pitchFamily="34" charset="0"/>
                <a:ea typeface="Calibri" pitchFamily="34" charset="-122"/>
                <a:cs typeface="Calibri" pitchFamily="34" charset="-120"/>
              </a:rPr>
              <a:t>Vous encaissez normalement. OKIU voit le dossier passer, sans rien changer à votre façon de travailler.</a:t>
            </a:r>
            <a:endParaRPr lang="en-US" sz="1150" dirty="0"/>
          </a:p>
        </p:txBody>
      </p:sp>
      <p:sp>
        <p:nvSpPr>
          <p:cNvPr id="13" name="Shape 11"/>
          <p:cNvSpPr/>
          <p:nvPr/>
        </p:nvSpPr>
        <p:spPr>
          <a:xfrm>
            <a:off x="548640" y="3118104"/>
            <a:ext cx="420624" cy="420624"/>
          </a:xfrm>
          <a:prstGeom prst="ellipse">
            <a:avLst/>
          </a:prstGeom>
          <a:solidFill>
            <a:srgbClr val="1F6F63"/>
          </a:solidFill>
          <a:ln/>
        </p:spPr>
      </p:sp>
      <p:sp>
        <p:nvSpPr>
          <p:cNvPr id="14" name="Text 12"/>
          <p:cNvSpPr/>
          <p:nvPr/>
        </p:nvSpPr>
        <p:spPr>
          <a:xfrm>
            <a:off x="548640" y="311810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p:nvPr/>
        </p:nvSpPr>
        <p:spPr>
          <a:xfrm>
            <a:off x="1289304" y="3063240"/>
            <a:ext cx="4663440" cy="365760"/>
          </a:xfrm>
          <a:prstGeom prst="rect">
            <a:avLst/>
          </a:prstGeom>
          <a:noFill/>
          <a:ln/>
        </p:spPr>
        <p:txBody>
          <a:bodyPr wrap="square" lIns="0" tIns="0" rIns="0" bIns="0" rtlCol="0" anchor="t"/>
          <a:lstStyle/>
          <a:p>
            <a:pPr indent="0" marL="0">
              <a:buNone/>
            </a:pPr>
            <a:r>
              <a:rPr lang="en-US" sz="1450" b="1" dirty="0">
                <a:solidFill>
                  <a:srgbClr val="12181B"/>
                </a:solidFill>
                <a:latin typeface="Cambria" pitchFamily="34" charset="0"/>
                <a:ea typeface="Cambria" pitchFamily="34" charset="-122"/>
                <a:cs typeface="Cambria" pitchFamily="34" charset="-120"/>
              </a:rPr>
              <a:t>OKIU vérifie le dossier</a:t>
            </a:r>
            <a:endParaRPr lang="en-US" sz="1450" dirty="0"/>
          </a:p>
        </p:txBody>
      </p:sp>
      <p:sp>
        <p:nvSpPr>
          <p:cNvPr id="16" name="Text 14"/>
          <p:cNvSpPr/>
          <p:nvPr/>
        </p:nvSpPr>
        <p:spPr>
          <a:xfrm>
            <a:off x="1289304" y="3374136"/>
            <a:ext cx="4663440" cy="502920"/>
          </a:xfrm>
          <a:prstGeom prst="rect">
            <a:avLst/>
          </a:prstGeom>
          <a:noFill/>
          <a:ln/>
        </p:spPr>
        <p:txBody>
          <a:bodyPr wrap="square" lIns="0" tIns="0" rIns="0" bIns="0" rtlCol="0" anchor="t"/>
          <a:lstStyle/>
          <a:p>
            <a:pPr indent="0" marL="0">
              <a:lnSpc>
                <a:spcPct val="120000"/>
              </a:lnSpc>
              <a:buNone/>
            </a:pPr>
            <a:r>
              <a:rPr lang="en-US" sz="1150" dirty="0">
                <a:solidFill>
                  <a:srgbClr val="52616B"/>
                </a:solidFill>
                <a:latin typeface="Calibri" pitchFamily="34" charset="0"/>
                <a:ea typeface="Calibri" pitchFamily="34" charset="-122"/>
                <a:cs typeface="Calibri" pitchFamily="34" charset="-120"/>
              </a:rPr>
              <a:t>Assuré, prise en charge, pièces jointes : si tout est en ordre, il envoie lui-même la demande à la mutuelle.</a:t>
            </a:r>
            <a:endParaRPr lang="en-US" sz="1150" dirty="0"/>
          </a:p>
        </p:txBody>
      </p:sp>
      <p:sp>
        <p:nvSpPr>
          <p:cNvPr id="17" name="Shape 15"/>
          <p:cNvSpPr/>
          <p:nvPr/>
        </p:nvSpPr>
        <p:spPr>
          <a:xfrm>
            <a:off x="548640" y="3904488"/>
            <a:ext cx="420624" cy="420624"/>
          </a:xfrm>
          <a:prstGeom prst="ellipse">
            <a:avLst/>
          </a:prstGeom>
          <a:solidFill>
            <a:srgbClr val="1F6F63"/>
          </a:solidFill>
          <a:ln/>
        </p:spPr>
      </p:sp>
      <p:sp>
        <p:nvSpPr>
          <p:cNvPr id="18" name="Text 16"/>
          <p:cNvSpPr/>
          <p:nvPr/>
        </p:nvSpPr>
        <p:spPr>
          <a:xfrm>
            <a:off x="548640" y="3904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1289304" y="3849624"/>
            <a:ext cx="4663440" cy="365760"/>
          </a:xfrm>
          <a:prstGeom prst="rect">
            <a:avLst/>
          </a:prstGeom>
          <a:noFill/>
          <a:ln/>
        </p:spPr>
        <p:txBody>
          <a:bodyPr wrap="square" lIns="0" tIns="0" rIns="0" bIns="0" rtlCol="0" anchor="t"/>
          <a:lstStyle/>
          <a:p>
            <a:pPr indent="0" marL="0">
              <a:buNone/>
            </a:pPr>
            <a:r>
              <a:rPr lang="en-US" sz="1450" b="1" dirty="0">
                <a:solidFill>
                  <a:srgbClr val="12181B"/>
                </a:solidFill>
                <a:latin typeface="Cambria" pitchFamily="34" charset="0"/>
                <a:ea typeface="Cambria" pitchFamily="34" charset="-122"/>
                <a:cs typeface="Cambria" pitchFamily="34" charset="-120"/>
              </a:rPr>
              <a:t>Il suit la réponse</a:t>
            </a:r>
            <a:endParaRPr lang="en-US" sz="1450" dirty="0"/>
          </a:p>
        </p:txBody>
      </p:sp>
      <p:sp>
        <p:nvSpPr>
          <p:cNvPr id="20" name="Text 18"/>
          <p:cNvSpPr/>
          <p:nvPr/>
        </p:nvSpPr>
        <p:spPr>
          <a:xfrm>
            <a:off x="1289304" y="4160520"/>
            <a:ext cx="4663440" cy="502920"/>
          </a:xfrm>
          <a:prstGeom prst="rect">
            <a:avLst/>
          </a:prstGeom>
          <a:noFill/>
          <a:ln/>
        </p:spPr>
        <p:txBody>
          <a:bodyPr wrap="square" lIns="0" tIns="0" rIns="0" bIns="0" rtlCol="0" anchor="t"/>
          <a:lstStyle/>
          <a:p>
            <a:pPr indent="0" marL="0">
              <a:lnSpc>
                <a:spcPct val="120000"/>
              </a:lnSpc>
              <a:buNone/>
            </a:pPr>
            <a:r>
              <a:rPr lang="en-US" sz="1150" dirty="0">
                <a:solidFill>
                  <a:srgbClr val="52616B"/>
                </a:solidFill>
                <a:latin typeface="Calibri" pitchFamily="34" charset="0"/>
                <a:ea typeface="Calibri" pitchFamily="34" charset="-122"/>
                <a:cs typeface="Calibri" pitchFamily="34" charset="-120"/>
              </a:rPr>
              <a:t>Accusé reçu, rejet, silence : OKIU contrôle ce qui revient et comprend pourquoi.</a:t>
            </a:r>
            <a:endParaRPr lang="en-US" sz="1150" dirty="0"/>
          </a:p>
        </p:txBody>
      </p:sp>
      <p:sp>
        <p:nvSpPr>
          <p:cNvPr id="21" name="Shape 19"/>
          <p:cNvSpPr/>
          <p:nvPr/>
        </p:nvSpPr>
        <p:spPr>
          <a:xfrm>
            <a:off x="548640" y="4690872"/>
            <a:ext cx="420624" cy="420624"/>
          </a:xfrm>
          <a:prstGeom prst="ellipse">
            <a:avLst/>
          </a:prstGeom>
          <a:solidFill>
            <a:srgbClr val="1F6F63"/>
          </a:solidFill>
          <a:ln/>
        </p:spPr>
      </p:sp>
      <p:sp>
        <p:nvSpPr>
          <p:cNvPr id="22" name="Text 20"/>
          <p:cNvSpPr/>
          <p:nvPr/>
        </p:nvSpPr>
        <p:spPr>
          <a:xfrm>
            <a:off x="548640" y="46908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1289304" y="4636008"/>
            <a:ext cx="4663440" cy="365760"/>
          </a:xfrm>
          <a:prstGeom prst="rect">
            <a:avLst/>
          </a:prstGeom>
          <a:noFill/>
          <a:ln/>
        </p:spPr>
        <p:txBody>
          <a:bodyPr wrap="square" lIns="0" tIns="0" rIns="0" bIns="0" rtlCol="0" anchor="t"/>
          <a:lstStyle/>
          <a:p>
            <a:pPr indent="0" marL="0">
              <a:buNone/>
            </a:pPr>
            <a:r>
              <a:rPr lang="en-US" sz="1450" b="1" dirty="0">
                <a:solidFill>
                  <a:srgbClr val="12181B"/>
                </a:solidFill>
                <a:latin typeface="Cambria" pitchFamily="34" charset="0"/>
                <a:ea typeface="Cambria" pitchFamily="34" charset="-122"/>
                <a:cs typeface="Cambria" pitchFamily="34" charset="-120"/>
              </a:rPr>
              <a:t>Vous recevez une liste courte</a:t>
            </a:r>
            <a:endParaRPr lang="en-US" sz="1450" dirty="0"/>
          </a:p>
        </p:txBody>
      </p:sp>
      <p:sp>
        <p:nvSpPr>
          <p:cNvPr id="24" name="Text 22"/>
          <p:cNvSpPr/>
          <p:nvPr/>
        </p:nvSpPr>
        <p:spPr>
          <a:xfrm>
            <a:off x="1289304" y="4946904"/>
            <a:ext cx="4663440" cy="502920"/>
          </a:xfrm>
          <a:prstGeom prst="rect">
            <a:avLst/>
          </a:prstGeom>
          <a:noFill/>
          <a:ln/>
        </p:spPr>
        <p:txBody>
          <a:bodyPr wrap="square" lIns="0" tIns="0" rIns="0" bIns="0" rtlCol="0" anchor="t"/>
          <a:lstStyle/>
          <a:p>
            <a:pPr indent="0" marL="0">
              <a:lnSpc>
                <a:spcPct val="120000"/>
              </a:lnSpc>
              <a:buNone/>
            </a:pPr>
            <a:r>
              <a:rPr lang="en-US" sz="1150" dirty="0">
                <a:solidFill>
                  <a:srgbClr val="52616B"/>
                </a:solidFill>
                <a:latin typeface="Calibri" pitchFamily="34" charset="0"/>
                <a:ea typeface="Calibri" pitchFamily="34" charset="-122"/>
                <a:cs typeface="Calibri" pitchFamily="34" charset="-120"/>
              </a:rPr>
              <a:t>Sur votre téléphone, seulement les décisions qui ont vraiment besoin de vous.</a:t>
            </a:r>
            <a:endParaRPr lang="en-US" sz="1150" dirty="0"/>
          </a:p>
        </p:txBody>
      </p:sp>
      <p:sp>
        <p:nvSpPr>
          <p:cNvPr id="25" name="Shape 23"/>
          <p:cNvSpPr/>
          <p:nvPr/>
        </p:nvSpPr>
        <p:spPr>
          <a:xfrm>
            <a:off x="548640" y="5477256"/>
            <a:ext cx="420624" cy="420624"/>
          </a:xfrm>
          <a:prstGeom prst="ellipse">
            <a:avLst/>
          </a:prstGeom>
          <a:solidFill>
            <a:srgbClr val="1F6F63"/>
          </a:solidFill>
          <a:ln/>
        </p:spPr>
      </p:sp>
      <p:sp>
        <p:nvSpPr>
          <p:cNvPr id="26" name="Text 24"/>
          <p:cNvSpPr/>
          <p:nvPr/>
        </p:nvSpPr>
        <p:spPr>
          <a:xfrm>
            <a:off x="548640" y="5477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289304" y="5422392"/>
            <a:ext cx="4663440" cy="365760"/>
          </a:xfrm>
          <a:prstGeom prst="rect">
            <a:avLst/>
          </a:prstGeom>
          <a:noFill/>
          <a:ln/>
        </p:spPr>
        <p:txBody>
          <a:bodyPr wrap="square" lIns="0" tIns="0" rIns="0" bIns="0" rtlCol="0" anchor="t"/>
          <a:lstStyle/>
          <a:p>
            <a:pPr indent="0" marL="0">
              <a:buNone/>
            </a:pPr>
            <a:r>
              <a:rPr lang="en-US" sz="1450" b="1" dirty="0">
                <a:solidFill>
                  <a:srgbClr val="12181B"/>
                </a:solidFill>
                <a:latin typeface="Cambria" pitchFamily="34" charset="0"/>
                <a:ea typeface="Cambria" pitchFamily="34" charset="-122"/>
                <a:cs typeface="Cambria" pitchFamily="34" charset="-120"/>
              </a:rPr>
              <a:t>Vous décidez, OKIU garde la mémoire</a:t>
            </a:r>
            <a:endParaRPr lang="en-US" sz="1450" dirty="0"/>
          </a:p>
        </p:txBody>
      </p:sp>
      <p:sp>
        <p:nvSpPr>
          <p:cNvPr id="28" name="Text 26"/>
          <p:cNvSpPr/>
          <p:nvPr/>
        </p:nvSpPr>
        <p:spPr>
          <a:xfrm>
            <a:off x="1289304" y="5733288"/>
            <a:ext cx="4663440" cy="502920"/>
          </a:xfrm>
          <a:prstGeom prst="rect">
            <a:avLst/>
          </a:prstGeom>
          <a:noFill/>
          <a:ln/>
        </p:spPr>
        <p:txBody>
          <a:bodyPr wrap="square" lIns="0" tIns="0" rIns="0" bIns="0" rtlCol="0" anchor="t"/>
          <a:lstStyle/>
          <a:p>
            <a:pPr indent="0" marL="0">
              <a:lnSpc>
                <a:spcPct val="120000"/>
              </a:lnSpc>
              <a:buNone/>
            </a:pPr>
            <a:r>
              <a:rPr lang="en-US" sz="1150" dirty="0">
                <a:solidFill>
                  <a:srgbClr val="52616B"/>
                </a:solidFill>
                <a:latin typeface="Calibri" pitchFamily="34" charset="0"/>
                <a:ea typeface="Calibri" pitchFamily="34" charset="-122"/>
                <a:cs typeface="Calibri" pitchFamily="34" charset="-120"/>
              </a:rPr>
              <a:t>Un geste suffit. Tout ce qu'OKIU a fait automatiquement reste consultable dans un journal clair.</a:t>
            </a:r>
            <a:endParaRPr lang="en-US" sz="1150" dirty="0"/>
          </a:p>
        </p:txBody>
      </p:sp>
      <p:sp>
        <p:nvSpPr>
          <p:cNvPr id="29" name="Shape 27"/>
          <p:cNvSpPr/>
          <p:nvPr/>
        </p:nvSpPr>
        <p:spPr>
          <a:xfrm>
            <a:off x="8138160" y="2331720"/>
            <a:ext cx="3246120" cy="4023360"/>
          </a:xfrm>
          <a:prstGeom prst="roundRect">
            <a:avLst>
              <a:gd name="adj" fmla="val 7887"/>
            </a:avLst>
          </a:prstGeom>
          <a:solidFill>
            <a:srgbClr val="16544B"/>
          </a:solidFill>
          <a:ln/>
          <a:effectLst>
            <a:outerShdw sx="100000" sy="100000" kx="0" ky="0" algn="bl" rotWithShape="0" blurRad="152400" dist="50800" dir="5400000">
              <a:srgbClr val="12181B">
                <a:alpha val="18000"/>
              </a:srgbClr>
            </a:outerShdw>
          </a:effectLst>
        </p:spPr>
      </p:sp>
      <p:sp>
        <p:nvSpPr>
          <p:cNvPr id="30" name="Shape 28"/>
          <p:cNvSpPr/>
          <p:nvPr/>
        </p:nvSpPr>
        <p:spPr>
          <a:xfrm>
            <a:off x="8266176" y="2459736"/>
            <a:ext cx="2990088" cy="3767328"/>
          </a:xfrm>
          <a:prstGeom prst="roundRect">
            <a:avLst>
              <a:gd name="adj" fmla="val 6116"/>
            </a:avLst>
          </a:prstGeom>
          <a:solidFill>
            <a:srgbClr val="FFFFFF"/>
          </a:solidFill>
          <a:ln/>
        </p:spPr>
      </p:sp>
      <p:sp>
        <p:nvSpPr>
          <p:cNvPr id="31" name="Text 29"/>
          <p:cNvSpPr/>
          <p:nvPr/>
        </p:nvSpPr>
        <p:spPr>
          <a:xfrm>
            <a:off x="8458200" y="2606040"/>
            <a:ext cx="2606040" cy="320040"/>
          </a:xfrm>
          <a:prstGeom prst="rect">
            <a:avLst/>
          </a:prstGeom>
          <a:noFill/>
          <a:ln/>
        </p:spPr>
        <p:txBody>
          <a:bodyPr wrap="square" lIns="0" tIns="0" rIns="0" bIns="0" rtlCol="0" anchor="ctr"/>
          <a:lstStyle/>
          <a:p>
            <a:pPr indent="0" marL="0">
              <a:buNone/>
            </a:pPr>
            <a:r>
              <a:rPr lang="en-US" sz="1400" b="1" dirty="0">
                <a:solidFill>
                  <a:srgbClr val="12181B"/>
                </a:solidFill>
                <a:latin typeface="Cambria" pitchFamily="34" charset="0"/>
                <a:ea typeface="Cambria" pitchFamily="34" charset="-122"/>
                <a:cs typeface="Cambria" pitchFamily="34" charset="-120"/>
              </a:rPr>
              <a:t>Aujourd'hui</a:t>
            </a:r>
            <a:endParaRPr lang="en-US" sz="1400" dirty="0"/>
          </a:p>
        </p:txBody>
      </p:sp>
      <p:sp>
        <p:nvSpPr>
          <p:cNvPr id="32" name="Text 30"/>
          <p:cNvSpPr/>
          <p:nvPr/>
        </p:nvSpPr>
        <p:spPr>
          <a:xfrm>
            <a:off x="8458200" y="2898648"/>
            <a:ext cx="2606040" cy="274320"/>
          </a:xfrm>
          <a:prstGeom prst="rect">
            <a:avLst/>
          </a:prstGeom>
          <a:noFill/>
          <a:ln/>
        </p:spPr>
        <p:txBody>
          <a:bodyPr wrap="square" lIns="0" tIns="0" rIns="0" bIns="0" rtlCol="0" anchor="ctr"/>
          <a:lstStyle/>
          <a:p>
            <a:pPr indent="0" marL="0">
              <a:buNone/>
            </a:pPr>
            <a:r>
              <a:rPr lang="en-US" sz="1050" dirty="0">
                <a:solidFill>
                  <a:srgbClr val="52616B"/>
                </a:solidFill>
                <a:latin typeface="Calibri" pitchFamily="34" charset="0"/>
                <a:ea typeface="Calibri" pitchFamily="34" charset="-122"/>
                <a:cs typeface="Calibri" pitchFamily="34" charset="-120"/>
              </a:rPr>
              <a:t>2 décisions en attente</a:t>
            </a:r>
            <a:endParaRPr lang="en-US" sz="1050" dirty="0"/>
          </a:p>
        </p:txBody>
      </p:sp>
      <p:sp>
        <p:nvSpPr>
          <p:cNvPr id="33" name="Shape 31"/>
          <p:cNvSpPr/>
          <p:nvPr/>
        </p:nvSpPr>
        <p:spPr>
          <a:xfrm>
            <a:off x="8458200" y="3346704"/>
            <a:ext cx="128016" cy="128016"/>
          </a:xfrm>
          <a:prstGeom prst="ellipse">
            <a:avLst/>
          </a:prstGeom>
          <a:solidFill>
            <a:srgbClr val="C97A3D"/>
          </a:solidFill>
          <a:ln/>
        </p:spPr>
      </p:sp>
      <p:sp>
        <p:nvSpPr>
          <p:cNvPr id="34" name="Text 32"/>
          <p:cNvSpPr/>
          <p:nvPr/>
        </p:nvSpPr>
        <p:spPr>
          <a:xfrm>
            <a:off x="8705088" y="3236976"/>
            <a:ext cx="2331720" cy="274320"/>
          </a:xfrm>
          <a:prstGeom prst="rect">
            <a:avLst/>
          </a:prstGeom>
          <a:noFill/>
          <a:ln/>
        </p:spPr>
        <p:txBody>
          <a:bodyPr wrap="square" lIns="0" tIns="0" rIns="0" bIns="0" rtlCol="0" anchor="ctr"/>
          <a:lstStyle/>
          <a:p>
            <a:pPr indent="0" marL="0">
              <a:buNone/>
            </a:pPr>
            <a:r>
              <a:rPr lang="en-US" sz="1000" b="1" dirty="0">
                <a:solidFill>
                  <a:srgbClr val="12181B"/>
                </a:solidFill>
                <a:latin typeface="Calibri" pitchFamily="34" charset="0"/>
                <a:ea typeface="Calibri" pitchFamily="34" charset="-122"/>
                <a:cs typeface="Calibri" pitchFamily="34" charset="-120"/>
              </a:rPr>
              <a:t>Pièce manquante — Dossier Martin</a:t>
            </a:r>
            <a:endParaRPr lang="en-US" sz="1000" dirty="0"/>
          </a:p>
        </p:txBody>
      </p:sp>
      <p:sp>
        <p:nvSpPr>
          <p:cNvPr id="35" name="Text 33"/>
          <p:cNvSpPr/>
          <p:nvPr/>
        </p:nvSpPr>
        <p:spPr>
          <a:xfrm>
            <a:off x="8705088" y="3474720"/>
            <a:ext cx="2331720" cy="256032"/>
          </a:xfrm>
          <a:prstGeom prst="rect">
            <a:avLst/>
          </a:prstGeom>
          <a:noFill/>
          <a:ln/>
        </p:spPr>
        <p:txBody>
          <a:bodyPr wrap="square" lIns="0" tIns="0" rIns="0" bIns="0" rtlCol="0" anchor="ctr"/>
          <a:lstStyle/>
          <a:p>
            <a:pPr indent="0" marL="0">
              <a:buNone/>
            </a:pPr>
            <a:r>
              <a:rPr lang="en-US" sz="900" dirty="0">
                <a:solidFill>
                  <a:srgbClr val="52616B"/>
                </a:solidFill>
                <a:latin typeface="Calibri" pitchFamily="34" charset="0"/>
                <a:ea typeface="Calibri" pitchFamily="34" charset="-122"/>
                <a:cs typeface="Calibri" pitchFamily="34" charset="-120"/>
              </a:rPr>
              <a:t>Ordonnance à confirmer</a:t>
            </a:r>
            <a:endParaRPr lang="en-US" sz="900" dirty="0"/>
          </a:p>
        </p:txBody>
      </p:sp>
      <p:sp>
        <p:nvSpPr>
          <p:cNvPr id="36" name="Shape 34"/>
          <p:cNvSpPr/>
          <p:nvPr/>
        </p:nvSpPr>
        <p:spPr>
          <a:xfrm>
            <a:off x="8458200" y="4078224"/>
            <a:ext cx="128016" cy="128016"/>
          </a:xfrm>
          <a:prstGeom prst="ellipse">
            <a:avLst/>
          </a:prstGeom>
          <a:solidFill>
            <a:srgbClr val="C97A3D"/>
          </a:solidFill>
          <a:ln/>
        </p:spPr>
      </p:sp>
      <p:sp>
        <p:nvSpPr>
          <p:cNvPr id="37" name="Text 35"/>
          <p:cNvSpPr/>
          <p:nvPr/>
        </p:nvSpPr>
        <p:spPr>
          <a:xfrm>
            <a:off x="8705088" y="3968496"/>
            <a:ext cx="2331720" cy="274320"/>
          </a:xfrm>
          <a:prstGeom prst="rect">
            <a:avLst/>
          </a:prstGeom>
          <a:noFill/>
          <a:ln/>
        </p:spPr>
        <p:txBody>
          <a:bodyPr wrap="square" lIns="0" tIns="0" rIns="0" bIns="0" rtlCol="0" anchor="ctr"/>
          <a:lstStyle/>
          <a:p>
            <a:pPr indent="0" marL="0">
              <a:buNone/>
            </a:pPr>
            <a:r>
              <a:rPr lang="en-US" sz="1000" b="1" dirty="0">
                <a:solidFill>
                  <a:srgbClr val="12181B"/>
                </a:solidFill>
                <a:latin typeface="Calibri" pitchFamily="34" charset="0"/>
                <a:ea typeface="Calibri" pitchFamily="34" charset="-122"/>
                <a:cs typeface="Calibri" pitchFamily="34" charset="-120"/>
              </a:rPr>
              <a:t>Rejet à traiter — Dossier #474</a:t>
            </a:r>
            <a:endParaRPr lang="en-US" sz="1000" dirty="0"/>
          </a:p>
        </p:txBody>
      </p:sp>
      <p:sp>
        <p:nvSpPr>
          <p:cNvPr id="38" name="Text 36"/>
          <p:cNvSpPr/>
          <p:nvPr/>
        </p:nvSpPr>
        <p:spPr>
          <a:xfrm>
            <a:off x="8705088" y="4206240"/>
            <a:ext cx="2331720" cy="256032"/>
          </a:xfrm>
          <a:prstGeom prst="rect">
            <a:avLst/>
          </a:prstGeom>
          <a:noFill/>
          <a:ln/>
        </p:spPr>
        <p:txBody>
          <a:bodyPr wrap="square" lIns="0" tIns="0" rIns="0" bIns="0" rtlCol="0" anchor="ctr"/>
          <a:lstStyle/>
          <a:p>
            <a:pPr indent="0" marL="0">
              <a:buNone/>
            </a:pPr>
            <a:r>
              <a:rPr lang="en-US" sz="900" dirty="0">
                <a:solidFill>
                  <a:srgbClr val="52616B"/>
                </a:solidFill>
                <a:latin typeface="Calibri" pitchFamily="34" charset="0"/>
                <a:ea typeface="Calibri" pitchFamily="34" charset="-122"/>
                <a:cs typeface="Calibri" pitchFamily="34" charset="-120"/>
              </a:rPr>
              <a:t>Date de naissance incohérente</a:t>
            </a:r>
            <a:endParaRPr lang="en-US" sz="900" dirty="0"/>
          </a:p>
        </p:txBody>
      </p:sp>
      <p:sp>
        <p:nvSpPr>
          <p:cNvPr id="39" name="Shape 37"/>
          <p:cNvSpPr/>
          <p:nvPr/>
        </p:nvSpPr>
        <p:spPr>
          <a:xfrm>
            <a:off x="8458200" y="4809744"/>
            <a:ext cx="128016" cy="128016"/>
          </a:xfrm>
          <a:prstGeom prst="ellipse">
            <a:avLst/>
          </a:prstGeom>
          <a:solidFill>
            <a:srgbClr val="1F6F63"/>
          </a:solidFill>
          <a:ln/>
        </p:spPr>
      </p:sp>
      <p:sp>
        <p:nvSpPr>
          <p:cNvPr id="40" name="Text 38"/>
          <p:cNvSpPr/>
          <p:nvPr/>
        </p:nvSpPr>
        <p:spPr>
          <a:xfrm>
            <a:off x="8705088" y="4700016"/>
            <a:ext cx="2331720" cy="274320"/>
          </a:xfrm>
          <a:prstGeom prst="rect">
            <a:avLst/>
          </a:prstGeom>
          <a:noFill/>
          <a:ln/>
        </p:spPr>
        <p:txBody>
          <a:bodyPr wrap="square" lIns="0" tIns="0" rIns="0" bIns="0" rtlCol="0" anchor="ctr"/>
          <a:lstStyle/>
          <a:p>
            <a:pPr indent="0" marL="0">
              <a:buNone/>
            </a:pPr>
            <a:r>
              <a:rPr lang="en-US" sz="1000" b="1" dirty="0">
                <a:solidFill>
                  <a:srgbClr val="12181B"/>
                </a:solidFill>
                <a:latin typeface="Calibri" pitchFamily="34" charset="0"/>
                <a:ea typeface="Calibri" pitchFamily="34" charset="-122"/>
                <a:cs typeface="Calibri" pitchFamily="34" charset="-120"/>
              </a:rPr>
              <a:t>Demande envoyée — #482</a:t>
            </a:r>
            <a:endParaRPr lang="en-US" sz="1000" dirty="0"/>
          </a:p>
        </p:txBody>
      </p:sp>
      <p:sp>
        <p:nvSpPr>
          <p:cNvPr id="41" name="Text 39"/>
          <p:cNvSpPr/>
          <p:nvPr/>
        </p:nvSpPr>
        <p:spPr>
          <a:xfrm>
            <a:off x="8705088" y="4937760"/>
            <a:ext cx="2331720" cy="256032"/>
          </a:xfrm>
          <a:prstGeom prst="rect">
            <a:avLst/>
          </a:prstGeom>
          <a:noFill/>
          <a:ln/>
        </p:spPr>
        <p:txBody>
          <a:bodyPr wrap="square" lIns="0" tIns="0" rIns="0" bIns="0" rtlCol="0" anchor="ctr"/>
          <a:lstStyle/>
          <a:p>
            <a:pPr indent="0" marL="0">
              <a:buNone/>
            </a:pPr>
            <a:r>
              <a:rPr lang="en-US" sz="900" dirty="0">
                <a:solidFill>
                  <a:srgbClr val="52616B"/>
                </a:solidFill>
                <a:latin typeface="Calibri" pitchFamily="34" charset="0"/>
                <a:ea typeface="Calibri" pitchFamily="34" charset="-122"/>
                <a:cs typeface="Calibri" pitchFamily="34" charset="-120"/>
              </a:rPr>
              <a:t>Traité automatiquement, 08:41</a:t>
            </a:r>
            <a:endParaRPr lang="en-US" sz="900" dirty="0"/>
          </a:p>
        </p:txBody>
      </p:sp>
      <p:sp>
        <p:nvSpPr>
          <p:cNvPr id="42" name="Shape 40"/>
          <p:cNvSpPr/>
          <p:nvPr/>
        </p:nvSpPr>
        <p:spPr>
          <a:xfrm>
            <a:off x="8458200" y="5541264"/>
            <a:ext cx="128016" cy="128016"/>
          </a:xfrm>
          <a:prstGeom prst="ellipse">
            <a:avLst/>
          </a:prstGeom>
          <a:solidFill>
            <a:srgbClr val="1F6F63"/>
          </a:solidFill>
          <a:ln/>
        </p:spPr>
      </p:sp>
      <p:sp>
        <p:nvSpPr>
          <p:cNvPr id="43" name="Text 41"/>
          <p:cNvSpPr/>
          <p:nvPr/>
        </p:nvSpPr>
        <p:spPr>
          <a:xfrm>
            <a:off x="8705088" y="5431536"/>
            <a:ext cx="2331720" cy="274320"/>
          </a:xfrm>
          <a:prstGeom prst="rect">
            <a:avLst/>
          </a:prstGeom>
          <a:noFill/>
          <a:ln/>
        </p:spPr>
        <p:txBody>
          <a:bodyPr wrap="square" lIns="0" tIns="0" rIns="0" bIns="0" rtlCol="0" anchor="ctr"/>
          <a:lstStyle/>
          <a:p>
            <a:pPr indent="0" marL="0">
              <a:buNone/>
            </a:pPr>
            <a:r>
              <a:rPr lang="en-US" sz="1000" b="1" dirty="0">
                <a:solidFill>
                  <a:srgbClr val="12181B"/>
                </a:solidFill>
                <a:latin typeface="Calibri" pitchFamily="34" charset="0"/>
                <a:ea typeface="Calibri" pitchFamily="34" charset="-122"/>
                <a:cs typeface="Calibri" pitchFamily="34" charset="-120"/>
              </a:rPr>
              <a:t>Accusé reçu — #479</a:t>
            </a:r>
            <a:endParaRPr lang="en-US" sz="1000" dirty="0"/>
          </a:p>
        </p:txBody>
      </p:sp>
      <p:sp>
        <p:nvSpPr>
          <p:cNvPr id="44" name="Text 42"/>
          <p:cNvSpPr/>
          <p:nvPr/>
        </p:nvSpPr>
        <p:spPr>
          <a:xfrm>
            <a:off x="8705088" y="5669280"/>
            <a:ext cx="2331720" cy="256032"/>
          </a:xfrm>
          <a:prstGeom prst="rect">
            <a:avLst/>
          </a:prstGeom>
          <a:noFill/>
          <a:ln/>
        </p:spPr>
        <p:txBody>
          <a:bodyPr wrap="square" lIns="0" tIns="0" rIns="0" bIns="0" rtlCol="0" anchor="ctr"/>
          <a:lstStyle/>
          <a:p>
            <a:pPr indent="0" marL="0">
              <a:buNone/>
            </a:pPr>
            <a:r>
              <a:rPr lang="en-US" sz="900" dirty="0">
                <a:solidFill>
                  <a:srgbClr val="52616B"/>
                </a:solidFill>
                <a:latin typeface="Calibri" pitchFamily="34" charset="0"/>
                <a:ea typeface="Calibri" pitchFamily="34" charset="-122"/>
                <a:cs typeface="Calibri" pitchFamily="34" charset="-120"/>
              </a:rPr>
              <a:t>Traité automatiquement, 08:22</a:t>
            </a:r>
            <a:endParaRPr lang="en-US" sz="900" dirty="0"/>
          </a:p>
        </p:txBody>
      </p:sp>
      <p:sp>
        <p:nvSpPr>
          <p:cNvPr id="45" name="Text 43"/>
          <p:cNvSpPr/>
          <p:nvPr/>
        </p:nvSpPr>
        <p:spPr>
          <a:xfrm>
            <a:off x="10728655" y="6400800"/>
            <a:ext cx="118872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OKIU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548640" y="429768"/>
            <a:ext cx="237744" cy="237744"/>
          </a:xfrm>
          <a:prstGeom prst="ellipse">
            <a:avLst/>
          </a:prstGeom>
          <a:ln w="28575">
            <a:solidFill>
              <a:srgbClr val="1F6F63"/>
            </a:solidFill>
            <a:prstDash val="solid"/>
          </a:ln>
        </p:spPr>
      </p:sp>
      <p:sp>
        <p:nvSpPr>
          <p:cNvPr id="3" name="Shape 1"/>
          <p:cNvSpPr/>
          <p:nvPr/>
        </p:nvSpPr>
        <p:spPr>
          <a:xfrm>
            <a:off x="736933" y="422160"/>
            <a:ext cx="76078" cy="76078"/>
          </a:xfrm>
          <a:prstGeom prst="ellipse">
            <a:avLst/>
          </a:prstGeom>
          <a:solidFill>
            <a:srgbClr val="C97A3D"/>
          </a:solidFill>
          <a:ln/>
        </p:spPr>
      </p:sp>
      <p:sp>
        <p:nvSpPr>
          <p:cNvPr id="4" name="Text 2"/>
          <p:cNvSpPr/>
          <p:nvPr/>
        </p:nvSpPr>
        <p:spPr>
          <a:xfrm>
            <a:off x="914400" y="329184"/>
            <a:ext cx="1828800" cy="365760"/>
          </a:xfrm>
          <a:prstGeom prst="rect">
            <a:avLst/>
          </a:prstGeom>
          <a:noFill/>
          <a:ln/>
        </p:spPr>
        <p:txBody>
          <a:bodyPr wrap="square" lIns="0" tIns="0" rIns="0" bIns="0" rtlCol="0" anchor="ctr"/>
          <a:lstStyle/>
          <a:p>
            <a:pPr indent="0" marL="0">
              <a:buNone/>
            </a:pPr>
            <a:r>
              <a:rPr lang="en-US" sz="1700" b="1" dirty="0">
                <a:solidFill>
                  <a:srgbClr val="12181B"/>
                </a:solidFill>
                <a:latin typeface="Cambria" pitchFamily="34" charset="0"/>
                <a:ea typeface="Cambria" pitchFamily="34" charset="-122"/>
                <a:cs typeface="Cambria" pitchFamily="34" charset="-120"/>
              </a:rPr>
              <a:t>OKIU</a:t>
            </a:r>
            <a:endParaRPr lang="en-US" sz="1700" dirty="0"/>
          </a:p>
        </p:txBody>
      </p:sp>
      <p:sp>
        <p:nvSpPr>
          <p:cNvPr id="5" name="Shape 3"/>
          <p:cNvSpPr/>
          <p:nvPr/>
        </p:nvSpPr>
        <p:spPr>
          <a:xfrm>
            <a:off x="566928" y="1316736"/>
            <a:ext cx="82296" cy="82296"/>
          </a:xfrm>
          <a:prstGeom prst="ellipse">
            <a:avLst/>
          </a:prstGeom>
          <a:solidFill>
            <a:srgbClr val="1F6F63"/>
          </a:solidFill>
          <a:ln/>
        </p:spPr>
      </p:sp>
      <p:sp>
        <p:nvSpPr>
          <p:cNvPr id="6" name="Text 4"/>
          <p:cNvSpPr/>
          <p:nvPr/>
        </p:nvSpPr>
        <p:spPr>
          <a:xfrm>
            <a:off x="749808" y="1179576"/>
            <a:ext cx="7315200" cy="274320"/>
          </a:xfrm>
          <a:prstGeom prst="rect">
            <a:avLst/>
          </a:prstGeom>
          <a:noFill/>
          <a:ln/>
        </p:spPr>
        <p:txBody>
          <a:bodyPr wrap="square" lIns="0" tIns="0" rIns="0" bIns="0" rtlCol="0" anchor="ctr"/>
          <a:lstStyle/>
          <a:p>
            <a:pPr indent="0" marL="0">
              <a:buNone/>
            </a:pPr>
            <a:r>
              <a:rPr lang="en-US" sz="1250" b="1" spc="200" kern="0" dirty="0">
                <a:solidFill>
                  <a:srgbClr val="1F6F63"/>
                </a:solidFill>
                <a:latin typeface="Calibri" pitchFamily="34" charset="0"/>
                <a:ea typeface="Calibri" pitchFamily="34" charset="-122"/>
                <a:cs typeface="Calibri" pitchFamily="34" charset="-120"/>
              </a:rPr>
              <a:t>LA CONFIANCE D'ABORD</a:t>
            </a:r>
            <a:endParaRPr lang="en-US" sz="1250" dirty="0"/>
          </a:p>
        </p:txBody>
      </p:sp>
      <p:sp>
        <p:nvSpPr>
          <p:cNvPr id="7" name="Text 5"/>
          <p:cNvSpPr/>
          <p:nvPr/>
        </p:nvSpPr>
        <p:spPr>
          <a:xfrm>
            <a:off x="548640" y="1508760"/>
            <a:ext cx="9601200" cy="640080"/>
          </a:xfrm>
          <a:prstGeom prst="rect">
            <a:avLst/>
          </a:prstGeom>
          <a:noFill/>
          <a:ln/>
        </p:spPr>
        <p:txBody>
          <a:bodyPr wrap="square" lIns="0" tIns="0" rIns="0" bIns="0" rtlCol="0" anchor="ctr"/>
          <a:lstStyle/>
          <a:p>
            <a:pPr indent="0" marL="0">
              <a:buNone/>
            </a:pPr>
            <a:r>
              <a:rPr lang="en-US" sz="2800" b="1" dirty="0">
                <a:solidFill>
                  <a:srgbClr val="12181B"/>
                </a:solidFill>
                <a:latin typeface="Cambria" pitchFamily="34" charset="0"/>
                <a:ea typeface="Cambria" pitchFamily="34" charset="-122"/>
                <a:cs typeface="Cambria" pitchFamily="34" charset="-120"/>
              </a:rPr>
              <a:t>Jamais d'exécution à l'aveugle.</a:t>
            </a:r>
            <a:endParaRPr lang="en-US" sz="2800" dirty="0"/>
          </a:p>
        </p:txBody>
      </p:sp>
      <p:sp>
        <p:nvSpPr>
          <p:cNvPr id="8" name="Text 6"/>
          <p:cNvSpPr/>
          <p:nvPr/>
        </p:nvSpPr>
        <p:spPr>
          <a:xfrm>
            <a:off x="548640" y="2240280"/>
            <a:ext cx="5120640" cy="960120"/>
          </a:xfrm>
          <a:prstGeom prst="rect">
            <a:avLst/>
          </a:prstGeom>
          <a:noFill/>
          <a:ln/>
        </p:spPr>
        <p:txBody>
          <a:bodyPr wrap="square" lIns="0" tIns="0" rIns="0" bIns="0" rtlCol="0" anchor="ctr"/>
          <a:lstStyle/>
          <a:p>
            <a:pPr indent="0" marL="0">
              <a:lnSpc>
                <a:spcPct val="132000"/>
              </a:lnSpc>
              <a:buNone/>
            </a:pPr>
            <a:r>
              <a:rPr lang="en-US" sz="1350" dirty="0">
                <a:solidFill>
                  <a:srgbClr val="52616B"/>
                </a:solidFill>
                <a:latin typeface="Calibri" pitchFamily="34" charset="0"/>
                <a:ea typeface="Calibri" pitchFamily="34" charset="-122"/>
                <a:cs typeface="Calibri" pitchFamily="34" charset="-120"/>
              </a:rPr>
              <a:t>OKIU commence toujours en mode supervisé : chaque envoi automatique reste visible avant d'être confirmé, le temps de construire la confiance à votre rythme.</a:t>
            </a:r>
            <a:endParaRPr lang="en-US" sz="1350" dirty="0"/>
          </a:p>
        </p:txBody>
      </p:sp>
      <p:sp>
        <p:nvSpPr>
          <p:cNvPr id="9" name="Shape 7"/>
          <p:cNvSpPr/>
          <p:nvPr/>
        </p:nvSpPr>
        <p:spPr>
          <a:xfrm>
            <a:off x="548640" y="3383280"/>
            <a:ext cx="310896" cy="310896"/>
          </a:xfrm>
          <a:prstGeom prst="ellipse">
            <a:avLst/>
          </a:prstGeom>
          <a:solidFill>
            <a:srgbClr val="1F6F63"/>
          </a:solidFill>
          <a:ln/>
        </p:spPr>
      </p:sp>
      <p:sp>
        <p:nvSpPr>
          <p:cNvPr id="10" name="Text 8"/>
          <p:cNvSpPr/>
          <p:nvPr/>
        </p:nvSpPr>
        <p:spPr>
          <a:xfrm>
            <a:off x="548640" y="33832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1005840" y="3364992"/>
            <a:ext cx="4663440" cy="365760"/>
          </a:xfrm>
          <a:prstGeom prst="rect">
            <a:avLst/>
          </a:prstGeom>
          <a:noFill/>
          <a:ln/>
        </p:spPr>
        <p:txBody>
          <a:bodyPr wrap="square" lIns="0" tIns="0" rIns="0" bIns="0" rtlCol="0" anchor="ctr"/>
          <a:lstStyle/>
          <a:p>
            <a:pPr indent="0" marL="0">
              <a:buNone/>
            </a:pPr>
            <a:r>
              <a:rPr lang="en-US" sz="1300" dirty="0">
                <a:solidFill>
                  <a:srgbClr val="12181B"/>
                </a:solidFill>
                <a:latin typeface="Calibri" pitchFamily="34" charset="0"/>
                <a:ea typeface="Calibri" pitchFamily="34" charset="-122"/>
                <a:cs typeface="Calibri" pitchFamily="34" charset="-120"/>
              </a:rPr>
              <a:t>Tout est tracé, à tout moment consultable</a:t>
            </a:r>
            <a:endParaRPr lang="en-US" sz="1300" dirty="0"/>
          </a:p>
        </p:txBody>
      </p:sp>
      <p:sp>
        <p:nvSpPr>
          <p:cNvPr id="12" name="Shape 10"/>
          <p:cNvSpPr/>
          <p:nvPr/>
        </p:nvSpPr>
        <p:spPr>
          <a:xfrm>
            <a:off x="548640" y="3950208"/>
            <a:ext cx="310896" cy="310896"/>
          </a:xfrm>
          <a:prstGeom prst="ellipse">
            <a:avLst/>
          </a:prstGeom>
          <a:solidFill>
            <a:srgbClr val="1F6F63"/>
          </a:solidFill>
          <a:ln/>
        </p:spPr>
      </p:sp>
      <p:sp>
        <p:nvSpPr>
          <p:cNvPr id="13" name="Text 11"/>
          <p:cNvSpPr/>
          <p:nvPr/>
        </p:nvSpPr>
        <p:spPr>
          <a:xfrm>
            <a:off x="548640" y="39502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1005840" y="3931920"/>
            <a:ext cx="4663440" cy="365760"/>
          </a:xfrm>
          <a:prstGeom prst="rect">
            <a:avLst/>
          </a:prstGeom>
          <a:noFill/>
          <a:ln/>
        </p:spPr>
        <p:txBody>
          <a:bodyPr wrap="square" lIns="0" tIns="0" rIns="0" bIns="0" rtlCol="0" anchor="ctr"/>
          <a:lstStyle/>
          <a:p>
            <a:pPr indent="0" marL="0">
              <a:buNone/>
            </a:pPr>
            <a:r>
              <a:rPr lang="en-US" sz="1300" dirty="0">
                <a:solidFill>
                  <a:srgbClr val="12181B"/>
                </a:solidFill>
                <a:latin typeface="Calibri" pitchFamily="34" charset="0"/>
                <a:ea typeface="Calibri" pitchFamily="34" charset="-122"/>
                <a:cs typeface="Calibri" pitchFamily="34" charset="-120"/>
              </a:rPr>
              <a:t>Rien ne s'automatise tant que ce n'est pas fiable</a:t>
            </a:r>
            <a:endParaRPr lang="en-US" sz="1300" dirty="0"/>
          </a:p>
        </p:txBody>
      </p:sp>
      <p:sp>
        <p:nvSpPr>
          <p:cNvPr id="15" name="Shape 13"/>
          <p:cNvSpPr/>
          <p:nvPr/>
        </p:nvSpPr>
        <p:spPr>
          <a:xfrm>
            <a:off x="548640" y="4517136"/>
            <a:ext cx="310896" cy="310896"/>
          </a:xfrm>
          <a:prstGeom prst="ellipse">
            <a:avLst/>
          </a:prstGeom>
          <a:solidFill>
            <a:srgbClr val="1F6F63"/>
          </a:solidFill>
          <a:ln/>
        </p:spPr>
      </p:sp>
      <p:sp>
        <p:nvSpPr>
          <p:cNvPr id="16" name="Text 14"/>
          <p:cNvSpPr/>
          <p:nvPr/>
        </p:nvSpPr>
        <p:spPr>
          <a:xfrm>
            <a:off x="548640" y="45171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1005840" y="4498848"/>
            <a:ext cx="4663440" cy="365760"/>
          </a:xfrm>
          <a:prstGeom prst="rect">
            <a:avLst/>
          </a:prstGeom>
          <a:noFill/>
          <a:ln/>
        </p:spPr>
        <p:txBody>
          <a:bodyPr wrap="square" lIns="0" tIns="0" rIns="0" bIns="0" rtlCol="0" anchor="ctr"/>
          <a:lstStyle/>
          <a:p>
            <a:pPr indent="0" marL="0">
              <a:buNone/>
            </a:pPr>
            <a:r>
              <a:rPr lang="en-US" sz="1300" dirty="0">
                <a:solidFill>
                  <a:srgbClr val="12181B"/>
                </a:solidFill>
                <a:latin typeface="Calibri" pitchFamily="34" charset="0"/>
                <a:ea typeface="Calibri" pitchFamily="34" charset="-122"/>
                <a:cs typeface="Calibri" pitchFamily="34" charset="-120"/>
              </a:rPr>
              <a:t>Vous gardez toujours la main sur les décisions</a:t>
            </a:r>
            <a:endParaRPr lang="en-US" sz="1300" dirty="0"/>
          </a:p>
        </p:txBody>
      </p:sp>
      <p:sp>
        <p:nvSpPr>
          <p:cNvPr id="18" name="Shape 16"/>
          <p:cNvSpPr/>
          <p:nvPr/>
        </p:nvSpPr>
        <p:spPr>
          <a:xfrm>
            <a:off x="5989320" y="2240280"/>
            <a:ext cx="5623560" cy="4023360"/>
          </a:xfrm>
          <a:prstGeom prst="roundRect">
            <a:avLst>
              <a:gd name="adj" fmla="val 3636"/>
            </a:avLst>
          </a:prstGeom>
          <a:solidFill>
            <a:srgbClr val="FFFFFF"/>
          </a:solidFill>
          <a:ln w="12700">
            <a:solidFill>
              <a:srgbClr val="E0E5E4"/>
            </a:solidFill>
            <a:prstDash val="solid"/>
          </a:ln>
        </p:spPr>
      </p:sp>
      <p:sp>
        <p:nvSpPr>
          <p:cNvPr id="19" name="Text 17"/>
          <p:cNvSpPr/>
          <p:nvPr/>
        </p:nvSpPr>
        <p:spPr>
          <a:xfrm>
            <a:off x="6309360" y="2496312"/>
            <a:ext cx="4983480" cy="365760"/>
          </a:xfrm>
          <a:prstGeom prst="rect">
            <a:avLst/>
          </a:prstGeom>
          <a:noFill/>
          <a:ln/>
        </p:spPr>
        <p:txBody>
          <a:bodyPr wrap="square" lIns="0" tIns="0" rIns="0" bIns="0" rtlCol="0" anchor="ctr"/>
          <a:lstStyle/>
          <a:p>
            <a:pPr indent="0" marL="0">
              <a:buNone/>
            </a:pPr>
            <a:r>
              <a:rPr lang="en-US" sz="1600" b="1" dirty="0">
                <a:solidFill>
                  <a:srgbClr val="12181B"/>
                </a:solidFill>
                <a:latin typeface="Cambria" pitchFamily="34" charset="0"/>
                <a:ea typeface="Cambria" pitchFamily="34" charset="-122"/>
                <a:cs typeface="Cambria" pitchFamily="34" charset="-120"/>
              </a:rPr>
              <a:t>Journal d'actions</a:t>
            </a:r>
            <a:endParaRPr lang="en-US" sz="1600" dirty="0"/>
          </a:p>
        </p:txBody>
      </p:sp>
      <p:sp>
        <p:nvSpPr>
          <p:cNvPr id="20" name="Shape 18"/>
          <p:cNvSpPr/>
          <p:nvPr/>
        </p:nvSpPr>
        <p:spPr>
          <a:xfrm>
            <a:off x="6153912" y="3054096"/>
            <a:ext cx="5294376" cy="566928"/>
          </a:xfrm>
          <a:prstGeom prst="rect">
            <a:avLst/>
          </a:prstGeom>
          <a:solidFill>
            <a:srgbClr val="F4F6F6"/>
          </a:solidFill>
          <a:ln/>
        </p:spPr>
      </p:sp>
      <p:sp>
        <p:nvSpPr>
          <p:cNvPr id="21" name="Text 19"/>
          <p:cNvSpPr/>
          <p:nvPr/>
        </p:nvSpPr>
        <p:spPr>
          <a:xfrm>
            <a:off x="6309360" y="3108960"/>
            <a:ext cx="4069080" cy="457200"/>
          </a:xfrm>
          <a:prstGeom prst="rect">
            <a:avLst/>
          </a:prstGeom>
          <a:noFill/>
          <a:ln/>
        </p:spPr>
        <p:txBody>
          <a:bodyPr wrap="square" lIns="0" tIns="0" rIns="0" bIns="0" rtlCol="0" anchor="ctr"/>
          <a:lstStyle/>
          <a:p>
            <a:pPr indent="0" marL="0">
              <a:buNone/>
            </a:pPr>
            <a:r>
              <a:rPr lang="en-US" sz="1250" dirty="0">
                <a:solidFill>
                  <a:srgbClr val="12181B"/>
                </a:solidFill>
                <a:latin typeface="Calibri" pitchFamily="34" charset="0"/>
                <a:ea typeface="Calibri" pitchFamily="34" charset="-122"/>
                <a:cs typeface="Calibri" pitchFamily="34" charset="-120"/>
              </a:rPr>
              <a:t>Demande envoyée — Dossier #482</a:t>
            </a:r>
            <a:endParaRPr lang="en-US" sz="1250" dirty="0"/>
          </a:p>
        </p:txBody>
      </p:sp>
      <p:sp>
        <p:nvSpPr>
          <p:cNvPr id="22" name="Text 20"/>
          <p:cNvSpPr/>
          <p:nvPr/>
        </p:nvSpPr>
        <p:spPr>
          <a:xfrm>
            <a:off x="10424160" y="3108960"/>
            <a:ext cx="868680" cy="457200"/>
          </a:xfrm>
          <a:prstGeom prst="rect">
            <a:avLst/>
          </a:prstGeom>
          <a:noFill/>
          <a:ln/>
        </p:spPr>
        <p:txBody>
          <a:bodyPr wrap="square" lIns="0" tIns="0" rIns="0" bIns="0" rtlCol="0" anchor="ctr"/>
          <a:lstStyle/>
          <a:p>
            <a:pPr algn="r" indent="0" marL="0">
              <a:buNone/>
            </a:pPr>
            <a:r>
              <a:rPr lang="en-US" sz="1250" dirty="0">
                <a:solidFill>
                  <a:srgbClr val="52616B"/>
                </a:solidFill>
                <a:latin typeface="Calibri" pitchFamily="34" charset="0"/>
                <a:ea typeface="Calibri" pitchFamily="34" charset="-122"/>
                <a:cs typeface="Calibri" pitchFamily="34" charset="-120"/>
              </a:rPr>
              <a:t>08:41</a:t>
            </a:r>
            <a:endParaRPr lang="en-US" sz="1250" dirty="0"/>
          </a:p>
        </p:txBody>
      </p:sp>
      <p:sp>
        <p:nvSpPr>
          <p:cNvPr id="23" name="Text 21"/>
          <p:cNvSpPr/>
          <p:nvPr/>
        </p:nvSpPr>
        <p:spPr>
          <a:xfrm>
            <a:off x="6309360" y="3749040"/>
            <a:ext cx="4069080" cy="457200"/>
          </a:xfrm>
          <a:prstGeom prst="rect">
            <a:avLst/>
          </a:prstGeom>
          <a:noFill/>
          <a:ln/>
        </p:spPr>
        <p:txBody>
          <a:bodyPr wrap="square" lIns="0" tIns="0" rIns="0" bIns="0" rtlCol="0" anchor="ctr"/>
          <a:lstStyle/>
          <a:p>
            <a:pPr indent="0" marL="0">
              <a:buNone/>
            </a:pPr>
            <a:r>
              <a:rPr lang="en-US" sz="1250" dirty="0">
                <a:solidFill>
                  <a:srgbClr val="12181B"/>
                </a:solidFill>
                <a:latin typeface="Calibri" pitchFamily="34" charset="0"/>
                <a:ea typeface="Calibri" pitchFamily="34" charset="-122"/>
                <a:cs typeface="Calibri" pitchFamily="34" charset="-120"/>
              </a:rPr>
              <a:t>Accusé reçu — Dossier #479</a:t>
            </a:r>
            <a:endParaRPr lang="en-US" sz="1250" dirty="0"/>
          </a:p>
        </p:txBody>
      </p:sp>
      <p:sp>
        <p:nvSpPr>
          <p:cNvPr id="24" name="Text 22"/>
          <p:cNvSpPr/>
          <p:nvPr/>
        </p:nvSpPr>
        <p:spPr>
          <a:xfrm>
            <a:off x="10424160" y="3749040"/>
            <a:ext cx="868680" cy="457200"/>
          </a:xfrm>
          <a:prstGeom prst="rect">
            <a:avLst/>
          </a:prstGeom>
          <a:noFill/>
          <a:ln/>
        </p:spPr>
        <p:txBody>
          <a:bodyPr wrap="square" lIns="0" tIns="0" rIns="0" bIns="0" rtlCol="0" anchor="ctr"/>
          <a:lstStyle/>
          <a:p>
            <a:pPr algn="r" indent="0" marL="0">
              <a:buNone/>
            </a:pPr>
            <a:r>
              <a:rPr lang="en-US" sz="1250" dirty="0">
                <a:solidFill>
                  <a:srgbClr val="52616B"/>
                </a:solidFill>
                <a:latin typeface="Calibri" pitchFamily="34" charset="0"/>
                <a:ea typeface="Calibri" pitchFamily="34" charset="-122"/>
                <a:cs typeface="Calibri" pitchFamily="34" charset="-120"/>
              </a:rPr>
              <a:t>08:22</a:t>
            </a:r>
            <a:endParaRPr lang="en-US" sz="1250" dirty="0"/>
          </a:p>
        </p:txBody>
      </p:sp>
      <p:sp>
        <p:nvSpPr>
          <p:cNvPr id="25" name="Shape 23"/>
          <p:cNvSpPr/>
          <p:nvPr/>
        </p:nvSpPr>
        <p:spPr>
          <a:xfrm>
            <a:off x="6153912" y="4334256"/>
            <a:ext cx="5294376" cy="566928"/>
          </a:xfrm>
          <a:prstGeom prst="rect">
            <a:avLst/>
          </a:prstGeom>
          <a:solidFill>
            <a:srgbClr val="F4F6F6"/>
          </a:solidFill>
          <a:ln/>
        </p:spPr>
      </p:sp>
      <p:sp>
        <p:nvSpPr>
          <p:cNvPr id="26" name="Text 24"/>
          <p:cNvSpPr/>
          <p:nvPr/>
        </p:nvSpPr>
        <p:spPr>
          <a:xfrm>
            <a:off x="6309360" y="4389120"/>
            <a:ext cx="4069080" cy="457200"/>
          </a:xfrm>
          <a:prstGeom prst="rect">
            <a:avLst/>
          </a:prstGeom>
          <a:noFill/>
          <a:ln/>
        </p:spPr>
        <p:txBody>
          <a:bodyPr wrap="square" lIns="0" tIns="0" rIns="0" bIns="0" rtlCol="0" anchor="ctr"/>
          <a:lstStyle/>
          <a:p>
            <a:pPr indent="0" marL="0">
              <a:buNone/>
            </a:pPr>
            <a:r>
              <a:rPr lang="en-US" sz="1250" dirty="0">
                <a:solidFill>
                  <a:srgbClr val="12181B"/>
                </a:solidFill>
                <a:latin typeface="Calibri" pitchFamily="34" charset="0"/>
                <a:ea typeface="Calibri" pitchFamily="34" charset="-122"/>
                <a:cs typeface="Calibri" pitchFamily="34" charset="-120"/>
              </a:rPr>
              <a:t>Rejet qualifié — Dossier #474</a:t>
            </a:r>
            <a:endParaRPr lang="en-US" sz="1250" dirty="0"/>
          </a:p>
        </p:txBody>
      </p:sp>
      <p:sp>
        <p:nvSpPr>
          <p:cNvPr id="27" name="Text 25"/>
          <p:cNvSpPr/>
          <p:nvPr/>
        </p:nvSpPr>
        <p:spPr>
          <a:xfrm>
            <a:off x="10424160" y="4389120"/>
            <a:ext cx="868680" cy="457200"/>
          </a:xfrm>
          <a:prstGeom prst="rect">
            <a:avLst/>
          </a:prstGeom>
          <a:noFill/>
          <a:ln/>
        </p:spPr>
        <p:txBody>
          <a:bodyPr wrap="square" lIns="0" tIns="0" rIns="0" bIns="0" rtlCol="0" anchor="ctr"/>
          <a:lstStyle/>
          <a:p>
            <a:pPr algn="r" indent="0" marL="0">
              <a:buNone/>
            </a:pPr>
            <a:r>
              <a:rPr lang="en-US" sz="1250" dirty="0">
                <a:solidFill>
                  <a:srgbClr val="52616B"/>
                </a:solidFill>
                <a:latin typeface="Calibri" pitchFamily="34" charset="0"/>
                <a:ea typeface="Calibri" pitchFamily="34" charset="-122"/>
                <a:cs typeface="Calibri" pitchFamily="34" charset="-120"/>
              </a:rPr>
              <a:t>08:05</a:t>
            </a:r>
            <a:endParaRPr lang="en-US" sz="1250" dirty="0"/>
          </a:p>
        </p:txBody>
      </p:sp>
      <p:sp>
        <p:nvSpPr>
          <p:cNvPr id="28" name="Text 26"/>
          <p:cNvSpPr/>
          <p:nvPr/>
        </p:nvSpPr>
        <p:spPr>
          <a:xfrm>
            <a:off x="6309360" y="5029200"/>
            <a:ext cx="4069080" cy="457200"/>
          </a:xfrm>
          <a:prstGeom prst="rect">
            <a:avLst/>
          </a:prstGeom>
          <a:noFill/>
          <a:ln/>
        </p:spPr>
        <p:txBody>
          <a:bodyPr wrap="square" lIns="0" tIns="0" rIns="0" bIns="0" rtlCol="0" anchor="ctr"/>
          <a:lstStyle/>
          <a:p>
            <a:pPr indent="0" marL="0">
              <a:buNone/>
            </a:pPr>
            <a:r>
              <a:rPr lang="en-US" sz="1250" dirty="0">
                <a:solidFill>
                  <a:srgbClr val="12181B"/>
                </a:solidFill>
                <a:latin typeface="Calibri" pitchFamily="34" charset="0"/>
                <a:ea typeface="Calibri" pitchFamily="34" charset="-122"/>
                <a:cs typeface="Calibri" pitchFamily="34" charset="-120"/>
              </a:rPr>
              <a:t>Demande envoyée — Dossier #471</a:t>
            </a:r>
            <a:endParaRPr lang="en-US" sz="1250" dirty="0"/>
          </a:p>
        </p:txBody>
      </p:sp>
      <p:sp>
        <p:nvSpPr>
          <p:cNvPr id="29" name="Text 27"/>
          <p:cNvSpPr/>
          <p:nvPr/>
        </p:nvSpPr>
        <p:spPr>
          <a:xfrm>
            <a:off x="10424160" y="5029200"/>
            <a:ext cx="868680" cy="457200"/>
          </a:xfrm>
          <a:prstGeom prst="rect">
            <a:avLst/>
          </a:prstGeom>
          <a:noFill/>
          <a:ln/>
        </p:spPr>
        <p:txBody>
          <a:bodyPr wrap="square" lIns="0" tIns="0" rIns="0" bIns="0" rtlCol="0" anchor="ctr"/>
          <a:lstStyle/>
          <a:p>
            <a:pPr algn="r" indent="0" marL="0">
              <a:buNone/>
            </a:pPr>
            <a:r>
              <a:rPr lang="en-US" sz="1250" dirty="0">
                <a:solidFill>
                  <a:srgbClr val="52616B"/>
                </a:solidFill>
                <a:latin typeface="Calibri" pitchFamily="34" charset="0"/>
                <a:ea typeface="Calibri" pitchFamily="34" charset="-122"/>
                <a:cs typeface="Calibri" pitchFamily="34" charset="-120"/>
              </a:rPr>
              <a:t>07:58</a:t>
            </a:r>
            <a:endParaRPr lang="en-US" sz="1250" dirty="0"/>
          </a:p>
        </p:txBody>
      </p:sp>
      <p:sp>
        <p:nvSpPr>
          <p:cNvPr id="30" name="Text 28"/>
          <p:cNvSpPr/>
          <p:nvPr/>
        </p:nvSpPr>
        <p:spPr>
          <a:xfrm>
            <a:off x="10728655" y="6400800"/>
            <a:ext cx="118872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OKIU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544B"/>
        </a:solidFill>
      </p:bgPr>
    </p:bg>
    <p:spTree>
      <p:nvGrpSpPr>
        <p:cNvPr id="1" name=""/>
        <p:cNvGrpSpPr/>
        <p:nvPr/>
      </p:nvGrpSpPr>
      <p:grpSpPr>
        <a:xfrm>
          <a:off x="0" y="0"/>
          <a:ext cx="0" cy="0"/>
          <a:chOff x="0" y="0"/>
          <a:chExt cx="0" cy="0"/>
        </a:xfrm>
      </p:grpSpPr>
      <p:sp>
        <p:nvSpPr>
          <p:cNvPr id="2" name="Shape 0"/>
          <p:cNvSpPr/>
          <p:nvPr/>
        </p:nvSpPr>
        <p:spPr>
          <a:xfrm>
            <a:off x="548640" y="475488"/>
            <a:ext cx="237744" cy="237744"/>
          </a:xfrm>
          <a:prstGeom prst="ellipse">
            <a:avLst/>
          </a:prstGeom>
          <a:ln w="28575">
            <a:solidFill>
              <a:srgbClr val="FFFFFF"/>
            </a:solidFill>
            <a:prstDash val="solid"/>
          </a:ln>
        </p:spPr>
      </p:sp>
      <p:sp>
        <p:nvSpPr>
          <p:cNvPr id="3" name="Shape 1"/>
          <p:cNvSpPr/>
          <p:nvPr/>
        </p:nvSpPr>
        <p:spPr>
          <a:xfrm>
            <a:off x="736933" y="467880"/>
            <a:ext cx="76078" cy="76078"/>
          </a:xfrm>
          <a:prstGeom prst="ellipse">
            <a:avLst/>
          </a:prstGeom>
          <a:solidFill>
            <a:srgbClr val="C97A3D"/>
          </a:solidFill>
          <a:ln/>
        </p:spPr>
      </p:sp>
      <p:sp>
        <p:nvSpPr>
          <p:cNvPr id="4" name="Text 2"/>
          <p:cNvSpPr/>
          <p:nvPr/>
        </p:nvSpPr>
        <p:spPr>
          <a:xfrm>
            <a:off x="914400" y="374904"/>
            <a:ext cx="1828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OKIU</a:t>
            </a:r>
            <a:endParaRPr lang="en-US" sz="1700" dirty="0"/>
          </a:p>
        </p:txBody>
      </p:sp>
      <p:sp>
        <p:nvSpPr>
          <p:cNvPr id="5" name="Text 3"/>
          <p:cNvSpPr/>
          <p:nvPr/>
        </p:nvSpPr>
        <p:spPr>
          <a:xfrm>
            <a:off x="457200" y="1463040"/>
            <a:ext cx="1828800" cy="1828800"/>
          </a:xfrm>
          <a:prstGeom prst="rect">
            <a:avLst/>
          </a:prstGeom>
          <a:noFill/>
          <a:ln/>
        </p:spPr>
        <p:txBody>
          <a:bodyPr wrap="square" lIns="0" tIns="0" rIns="0" bIns="0" rtlCol="0" anchor="ctr"/>
          <a:lstStyle/>
          <a:p>
            <a:pPr indent="0" marL="0">
              <a:buNone/>
            </a:pPr>
            <a:r>
              <a:rPr lang="en-US" sz="14000" b="1" dirty="0">
                <a:solidFill>
                  <a:srgbClr val="1F6F63"/>
                </a:solidFill>
                <a:latin typeface="Cambria" pitchFamily="34" charset="0"/>
                <a:ea typeface="Cambria" pitchFamily="34" charset="-122"/>
                <a:cs typeface="Cambria" pitchFamily="34" charset="-120"/>
              </a:rPr>
              <a:t>“</a:t>
            </a:r>
            <a:endParaRPr lang="en-US" sz="14000" dirty="0"/>
          </a:p>
        </p:txBody>
      </p:sp>
      <p:sp>
        <p:nvSpPr>
          <p:cNvPr id="6" name="Text 4"/>
          <p:cNvSpPr/>
          <p:nvPr/>
        </p:nvSpPr>
        <p:spPr>
          <a:xfrm>
            <a:off x="1280160" y="2377440"/>
            <a:ext cx="9601200" cy="2103120"/>
          </a:xfrm>
          <a:prstGeom prst="rect">
            <a:avLst/>
          </a:prstGeom>
          <a:noFill/>
          <a:ln/>
        </p:spPr>
        <p:txBody>
          <a:bodyPr wrap="square" lIns="0" tIns="0" rIns="0" bIns="0" rtlCol="0" anchor="ctr"/>
          <a:lstStyle/>
          <a:p>
            <a:pPr indent="0" marL="0">
              <a:lnSpc>
                <a:spcPct val="120000"/>
              </a:lnSpc>
              <a:buNone/>
            </a:pPr>
            <a:r>
              <a:rPr lang="en-US" sz="3200" i="1" dirty="0">
                <a:solidFill>
                  <a:srgbClr val="FFFFFF"/>
                </a:solidFill>
                <a:latin typeface="Cambria" pitchFamily="34" charset="0"/>
                <a:ea typeface="Cambria" pitchFamily="34" charset="-122"/>
                <a:cs typeface="Cambria" pitchFamily="34" charset="-120"/>
              </a:rPr>
              <a:t>OKIU est aujourd'hui testé en conditions réelles chez Ver'Optic, magasin pilote du programme.</a:t>
            </a:r>
            <a:endParaRPr lang="en-US" sz="3200" dirty="0"/>
          </a:p>
        </p:txBody>
      </p:sp>
      <p:sp>
        <p:nvSpPr>
          <p:cNvPr id="7" name="Text 5"/>
          <p:cNvSpPr/>
          <p:nvPr/>
        </p:nvSpPr>
        <p:spPr>
          <a:xfrm>
            <a:off x="1280160" y="4617720"/>
            <a:ext cx="5486400" cy="365760"/>
          </a:xfrm>
          <a:prstGeom prst="rect">
            <a:avLst/>
          </a:prstGeom>
          <a:noFill/>
          <a:ln/>
        </p:spPr>
        <p:txBody>
          <a:bodyPr wrap="square" lIns="0" tIns="0" rIns="0" bIns="0" rtlCol="0" anchor="ctr"/>
          <a:lstStyle/>
          <a:p>
            <a:pPr indent="0" marL="0">
              <a:buNone/>
            </a:pPr>
            <a:r>
              <a:rPr lang="en-US" sz="1300" b="1" spc="150" kern="0" dirty="0">
                <a:solidFill>
                  <a:srgbClr val="C97A3D"/>
                </a:solidFill>
                <a:latin typeface="Calibri" pitchFamily="34" charset="0"/>
                <a:ea typeface="Calibri" pitchFamily="34" charset="-122"/>
                <a:cs typeface="Calibri" pitchFamily="34" charset="-120"/>
              </a:rPr>
              <a:t>— PROGRAMME PILOTE, 2026</a:t>
            </a:r>
            <a:endParaRPr lang="en-US" sz="1300" dirty="0"/>
          </a:p>
        </p:txBody>
      </p:sp>
      <p:sp>
        <p:nvSpPr>
          <p:cNvPr id="8" name="Text 6"/>
          <p:cNvSpPr/>
          <p:nvPr/>
        </p:nvSpPr>
        <p:spPr>
          <a:xfrm>
            <a:off x="1280160" y="5257800"/>
            <a:ext cx="7772400" cy="457200"/>
          </a:xfrm>
          <a:prstGeom prst="rect">
            <a:avLst/>
          </a:prstGeom>
          <a:noFill/>
          <a:ln/>
        </p:spPr>
        <p:txBody>
          <a:bodyPr wrap="square" lIns="0" tIns="0" rIns="0" bIns="0" rtlCol="0" anchor="ctr"/>
          <a:lstStyle/>
          <a:p>
            <a:pPr indent="0" marL="0">
              <a:buNone/>
            </a:pPr>
            <a:r>
              <a:rPr lang="en-US" sz="1300" dirty="0">
                <a:solidFill>
                  <a:srgbClr val="8FBBB0"/>
                </a:solidFill>
                <a:latin typeface="Calibri" pitchFamily="34" charset="0"/>
                <a:ea typeface="Calibri" pitchFamily="34" charset="-122"/>
                <a:cs typeface="Calibri" pitchFamily="34" charset="-120"/>
              </a:rPr>
              <a:t>Construit en conditions réelles, avec un magasin, avant d'être promis à tous.</a:t>
            </a:r>
            <a:endParaRPr lang="en-US" sz="1300" dirty="0"/>
          </a:p>
        </p:txBody>
      </p:sp>
      <p:sp>
        <p:nvSpPr>
          <p:cNvPr id="9" name="Text 7"/>
          <p:cNvSpPr/>
          <p:nvPr/>
        </p:nvSpPr>
        <p:spPr>
          <a:xfrm>
            <a:off x="10728655" y="6400800"/>
            <a:ext cx="1188720" cy="274320"/>
          </a:xfrm>
          <a:prstGeom prst="rect">
            <a:avLst/>
          </a:prstGeom>
          <a:noFill/>
          <a:ln/>
        </p:spPr>
        <p:txBody>
          <a:bodyPr wrap="square" lIns="0" tIns="0" rIns="0" bIns="0" rtlCol="0" anchor="ctr"/>
          <a:lstStyle/>
          <a:p>
            <a:pPr algn="r" indent="0" marL="0">
              <a:buNone/>
            </a:pPr>
            <a:r>
              <a:rPr lang="en-US" sz="900" dirty="0">
                <a:solidFill>
                  <a:srgbClr val="6FA79B"/>
                </a:solidFill>
                <a:latin typeface="Calibri" pitchFamily="34" charset="0"/>
                <a:ea typeface="Calibri" pitchFamily="34" charset="-122"/>
                <a:cs typeface="Calibri" pitchFamily="34" charset="-120"/>
              </a:rPr>
              <a:t>OKIU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237744" cy="237744"/>
          </a:xfrm>
          <a:prstGeom prst="ellipse">
            <a:avLst/>
          </a:prstGeom>
          <a:ln w="28575">
            <a:solidFill>
              <a:srgbClr val="1F6F63"/>
            </a:solidFill>
            <a:prstDash val="solid"/>
          </a:ln>
        </p:spPr>
      </p:sp>
      <p:sp>
        <p:nvSpPr>
          <p:cNvPr id="3" name="Shape 1"/>
          <p:cNvSpPr/>
          <p:nvPr/>
        </p:nvSpPr>
        <p:spPr>
          <a:xfrm>
            <a:off x="736933" y="422160"/>
            <a:ext cx="76078" cy="76078"/>
          </a:xfrm>
          <a:prstGeom prst="ellipse">
            <a:avLst/>
          </a:prstGeom>
          <a:solidFill>
            <a:srgbClr val="C97A3D"/>
          </a:solidFill>
          <a:ln/>
        </p:spPr>
      </p:sp>
      <p:sp>
        <p:nvSpPr>
          <p:cNvPr id="4" name="Text 2"/>
          <p:cNvSpPr/>
          <p:nvPr/>
        </p:nvSpPr>
        <p:spPr>
          <a:xfrm>
            <a:off x="914400" y="329184"/>
            <a:ext cx="1828800" cy="365760"/>
          </a:xfrm>
          <a:prstGeom prst="rect">
            <a:avLst/>
          </a:prstGeom>
          <a:noFill/>
          <a:ln/>
        </p:spPr>
        <p:txBody>
          <a:bodyPr wrap="square" lIns="0" tIns="0" rIns="0" bIns="0" rtlCol="0" anchor="ctr"/>
          <a:lstStyle/>
          <a:p>
            <a:pPr indent="0" marL="0">
              <a:buNone/>
            </a:pPr>
            <a:r>
              <a:rPr lang="en-US" sz="1700" b="1" dirty="0">
                <a:solidFill>
                  <a:srgbClr val="12181B"/>
                </a:solidFill>
                <a:latin typeface="Cambria" pitchFamily="34" charset="0"/>
                <a:ea typeface="Cambria" pitchFamily="34" charset="-122"/>
                <a:cs typeface="Cambria" pitchFamily="34" charset="-120"/>
              </a:rPr>
              <a:t>OKIU</a:t>
            </a:r>
            <a:endParaRPr lang="en-US" sz="1700" dirty="0"/>
          </a:p>
        </p:txBody>
      </p:sp>
      <p:sp>
        <p:nvSpPr>
          <p:cNvPr id="5" name="Shape 3"/>
          <p:cNvSpPr/>
          <p:nvPr/>
        </p:nvSpPr>
        <p:spPr>
          <a:xfrm>
            <a:off x="566928" y="1316736"/>
            <a:ext cx="82296" cy="82296"/>
          </a:xfrm>
          <a:prstGeom prst="ellipse">
            <a:avLst/>
          </a:prstGeom>
          <a:solidFill>
            <a:srgbClr val="1F6F63"/>
          </a:solidFill>
          <a:ln/>
        </p:spPr>
      </p:sp>
      <p:sp>
        <p:nvSpPr>
          <p:cNvPr id="6" name="Text 4"/>
          <p:cNvSpPr/>
          <p:nvPr/>
        </p:nvSpPr>
        <p:spPr>
          <a:xfrm>
            <a:off x="749808" y="1179576"/>
            <a:ext cx="7315200" cy="274320"/>
          </a:xfrm>
          <a:prstGeom prst="rect">
            <a:avLst/>
          </a:prstGeom>
          <a:noFill/>
          <a:ln/>
        </p:spPr>
        <p:txBody>
          <a:bodyPr wrap="square" lIns="0" tIns="0" rIns="0" bIns="0" rtlCol="0" anchor="ctr"/>
          <a:lstStyle/>
          <a:p>
            <a:pPr indent="0" marL="0">
              <a:buNone/>
            </a:pPr>
            <a:r>
              <a:rPr lang="en-US" sz="1250" b="1" spc="200" kern="0" dirty="0">
                <a:solidFill>
                  <a:srgbClr val="1F6F63"/>
                </a:solidFill>
                <a:latin typeface="Calibri" pitchFamily="34" charset="0"/>
                <a:ea typeface="Calibri" pitchFamily="34" charset="-122"/>
                <a:cs typeface="Calibri" pitchFamily="34" charset="-120"/>
              </a:rPr>
              <a:t>POUR QUI</a:t>
            </a:r>
            <a:endParaRPr lang="en-US" sz="1250" dirty="0"/>
          </a:p>
        </p:txBody>
      </p:sp>
      <p:sp>
        <p:nvSpPr>
          <p:cNvPr id="7" name="Text 5"/>
          <p:cNvSpPr/>
          <p:nvPr/>
        </p:nvSpPr>
        <p:spPr>
          <a:xfrm>
            <a:off x="548640" y="1508760"/>
            <a:ext cx="9601200" cy="640080"/>
          </a:xfrm>
          <a:prstGeom prst="rect">
            <a:avLst/>
          </a:prstGeom>
          <a:noFill/>
          <a:ln/>
        </p:spPr>
        <p:txBody>
          <a:bodyPr wrap="square" lIns="0" tIns="0" rIns="0" bIns="0" rtlCol="0" anchor="ctr"/>
          <a:lstStyle/>
          <a:p>
            <a:pPr indent="0" marL="0">
              <a:buNone/>
            </a:pPr>
            <a:r>
              <a:rPr lang="en-US" sz="2800" b="1" dirty="0">
                <a:solidFill>
                  <a:srgbClr val="12181B"/>
                </a:solidFill>
                <a:latin typeface="Cambria" pitchFamily="34" charset="0"/>
                <a:ea typeface="Cambria" pitchFamily="34" charset="-122"/>
                <a:cs typeface="Cambria" pitchFamily="34" charset="-120"/>
              </a:rPr>
              <a:t>Pensé pour les opticiens indépendants</a:t>
            </a:r>
            <a:endParaRPr lang="en-US" sz="2800" dirty="0"/>
          </a:p>
        </p:txBody>
      </p:sp>
      <p:sp>
        <p:nvSpPr>
          <p:cNvPr id="8" name="Text 6"/>
          <p:cNvSpPr/>
          <p:nvPr/>
        </p:nvSpPr>
        <p:spPr>
          <a:xfrm>
            <a:off x="548640" y="2286000"/>
            <a:ext cx="6309360" cy="1280160"/>
          </a:xfrm>
          <a:prstGeom prst="rect">
            <a:avLst/>
          </a:prstGeom>
          <a:noFill/>
          <a:ln/>
        </p:spPr>
        <p:txBody>
          <a:bodyPr wrap="square" lIns="0" tIns="0" rIns="0" bIns="0" rtlCol="0" anchor="ctr"/>
          <a:lstStyle/>
          <a:p>
            <a:pPr indent="0" marL="0">
              <a:lnSpc>
                <a:spcPct val="135000"/>
              </a:lnSpc>
              <a:buNone/>
            </a:pPr>
            <a:r>
              <a:rPr lang="en-US" sz="1400" dirty="0">
                <a:solidFill>
                  <a:srgbClr val="52616B"/>
                </a:solidFill>
                <a:latin typeface="Calibri" pitchFamily="34" charset="0"/>
                <a:ea typeface="Calibri" pitchFamily="34" charset="-122"/>
                <a:cs typeface="Calibri" pitchFamily="34" charset="-120"/>
              </a:rPr>
              <a:t>OKIU s'adresse aux dirigeants de magasins d'optique indépendants — ceux qui font l'accueil, le conseil, la vente, et l'administratif le soir. Pas aux grands réseaux qui ont un service de gestion pour ça.</a:t>
            </a:r>
            <a:endParaRPr lang="en-US" sz="1400" dirty="0"/>
          </a:p>
        </p:txBody>
      </p:sp>
      <p:sp>
        <p:nvSpPr>
          <p:cNvPr id="9" name="Text 7"/>
          <p:cNvSpPr/>
          <p:nvPr/>
        </p:nvSpPr>
        <p:spPr>
          <a:xfrm>
            <a:off x="548640" y="3657600"/>
            <a:ext cx="6309360" cy="1188720"/>
          </a:xfrm>
          <a:prstGeom prst="rect">
            <a:avLst/>
          </a:prstGeom>
          <a:noFill/>
          <a:ln/>
        </p:spPr>
        <p:txBody>
          <a:bodyPr wrap="square" lIns="0" tIns="0" rIns="0" bIns="0" rtlCol="0" anchor="ctr"/>
          <a:lstStyle/>
          <a:p>
            <a:pPr indent="0" marL="0">
              <a:lnSpc>
                <a:spcPct val="135000"/>
              </a:lnSpc>
              <a:buNone/>
            </a:pPr>
            <a:r>
              <a:rPr lang="en-US" sz="1400" dirty="0">
                <a:solidFill>
                  <a:srgbClr val="52616B"/>
                </a:solidFill>
                <a:latin typeface="Calibri" pitchFamily="34" charset="0"/>
                <a:ea typeface="Calibri" pitchFamily="34" charset="-122"/>
                <a:cs typeface="Calibri" pitchFamily="34" charset="-120"/>
              </a:rPr>
              <a:t>Il fonctionne aujourd'hui au-dessus de Polylogic, en lecture seule : il n'écrit rien dans votre logiciel métier, il s'en sert pour savoir quels dossiers demandent une prise en charge.</a:t>
            </a:r>
            <a:endParaRPr lang="en-US" sz="1400" dirty="0"/>
          </a:p>
        </p:txBody>
      </p:sp>
      <p:sp>
        <p:nvSpPr>
          <p:cNvPr id="10" name="Shape 8"/>
          <p:cNvSpPr/>
          <p:nvPr/>
        </p:nvSpPr>
        <p:spPr>
          <a:xfrm>
            <a:off x="548640" y="4983480"/>
            <a:ext cx="6309360" cy="1234440"/>
          </a:xfrm>
          <a:prstGeom prst="roundRect">
            <a:avLst>
              <a:gd name="adj" fmla="val 10370"/>
            </a:avLst>
          </a:prstGeom>
          <a:solidFill>
            <a:srgbClr val="FBF0E7"/>
          </a:solidFill>
          <a:ln w="12700">
            <a:solidFill>
              <a:srgbClr val="C97A3D"/>
            </a:solidFill>
            <a:prstDash val="solid"/>
          </a:ln>
        </p:spPr>
      </p:sp>
      <p:sp>
        <p:nvSpPr>
          <p:cNvPr id="11" name="Text 9"/>
          <p:cNvSpPr/>
          <p:nvPr/>
        </p:nvSpPr>
        <p:spPr>
          <a:xfrm>
            <a:off x="822960" y="4983480"/>
            <a:ext cx="5760720" cy="1234440"/>
          </a:xfrm>
          <a:prstGeom prst="rect">
            <a:avLst/>
          </a:prstGeom>
          <a:noFill/>
          <a:ln/>
        </p:spPr>
        <p:txBody>
          <a:bodyPr wrap="square" lIns="0" tIns="0" rIns="0" bIns="0" rtlCol="0" anchor="ctr"/>
          <a:lstStyle/>
          <a:p>
            <a:pPr indent="0" marL="0">
              <a:lnSpc>
                <a:spcPct val="130000"/>
              </a:lnSpc>
              <a:buNone/>
            </a:pPr>
            <a:r>
              <a:rPr lang="en-US" sz="1300" i="1" dirty="0">
                <a:solidFill>
                  <a:srgbClr val="12181B"/>
                </a:solidFill>
                <a:latin typeface="Calibri" pitchFamily="34" charset="0"/>
                <a:ea typeface="Calibri" pitchFamily="34" charset="-122"/>
                <a:cs typeface="Calibri" pitchFamily="34" charset="-120"/>
              </a:rPr>
              <a:t>Vous utilisez un autre logiciel que Polylogic ? Candidatez quand même : votre réponse compte dans nos priorités.</a:t>
            </a:r>
            <a:endParaRPr lang="en-US" sz="1300" dirty="0"/>
          </a:p>
        </p:txBody>
      </p:sp>
      <p:sp>
        <p:nvSpPr>
          <p:cNvPr id="12" name="Text 10"/>
          <p:cNvSpPr/>
          <p:nvPr/>
        </p:nvSpPr>
        <p:spPr>
          <a:xfrm>
            <a:off x="7315200" y="2331720"/>
            <a:ext cx="4297680" cy="320040"/>
          </a:xfrm>
          <a:prstGeom prst="rect">
            <a:avLst/>
          </a:prstGeom>
          <a:noFill/>
          <a:ln/>
        </p:spPr>
        <p:txBody>
          <a:bodyPr wrap="square" lIns="0" tIns="0" rIns="0" bIns="0" rtlCol="0" anchor="ctr"/>
          <a:lstStyle/>
          <a:p>
            <a:pPr indent="0" marL="0">
              <a:buNone/>
            </a:pPr>
            <a:r>
              <a:rPr lang="en-US" sz="1250" b="1" dirty="0">
                <a:solidFill>
                  <a:srgbClr val="12181B"/>
                </a:solidFill>
                <a:latin typeface="Calibri" pitchFamily="34" charset="0"/>
                <a:ea typeface="Calibri" pitchFamily="34" charset="-122"/>
                <a:cs typeface="Calibri" pitchFamily="34" charset="-120"/>
              </a:rPr>
              <a:t>Compatibilité logiciel métier</a:t>
            </a:r>
            <a:endParaRPr lang="en-US" sz="1250" dirty="0"/>
          </a:p>
        </p:txBody>
      </p:sp>
      <p:sp>
        <p:nvSpPr>
          <p:cNvPr id="13" name="Shape 11"/>
          <p:cNvSpPr/>
          <p:nvPr/>
        </p:nvSpPr>
        <p:spPr>
          <a:xfrm>
            <a:off x="7315200" y="2788920"/>
            <a:ext cx="4297680" cy="475488"/>
          </a:xfrm>
          <a:prstGeom prst="roundRect">
            <a:avLst>
              <a:gd name="adj" fmla="val 19231"/>
            </a:avLst>
          </a:prstGeom>
          <a:solidFill>
            <a:srgbClr val="1F6F63"/>
          </a:solidFill>
          <a:ln w="12700">
            <a:solidFill>
              <a:srgbClr val="1F6F63"/>
            </a:solidFill>
            <a:prstDash val="solid"/>
          </a:ln>
        </p:spPr>
      </p:sp>
      <p:sp>
        <p:nvSpPr>
          <p:cNvPr id="14" name="Text 12"/>
          <p:cNvSpPr/>
          <p:nvPr/>
        </p:nvSpPr>
        <p:spPr>
          <a:xfrm>
            <a:off x="7516368" y="2788920"/>
            <a:ext cx="2377440" cy="47548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Polylogic</a:t>
            </a:r>
            <a:endParaRPr lang="en-US" sz="1250" dirty="0"/>
          </a:p>
        </p:txBody>
      </p:sp>
      <p:sp>
        <p:nvSpPr>
          <p:cNvPr id="15" name="Text 13"/>
          <p:cNvSpPr/>
          <p:nvPr/>
        </p:nvSpPr>
        <p:spPr>
          <a:xfrm>
            <a:off x="9692640" y="2788920"/>
            <a:ext cx="1828800" cy="475488"/>
          </a:xfrm>
          <a:prstGeom prst="rect">
            <a:avLst/>
          </a:prstGeom>
          <a:noFill/>
          <a:ln/>
        </p:spPr>
        <p:txBody>
          <a:bodyPr wrap="square" lIns="0" tIns="0" rIns="0" bIns="0" rtlCol="0" anchor="ctr"/>
          <a:lstStyle/>
          <a:p>
            <a:pPr algn="r" indent="0" marL="0">
              <a:buNone/>
            </a:pPr>
            <a:r>
              <a:rPr lang="en-US" sz="1050" dirty="0">
                <a:solidFill>
                  <a:srgbClr val="FFFFFF"/>
                </a:solidFill>
                <a:latin typeface="Calibri" pitchFamily="34" charset="0"/>
                <a:ea typeface="Calibri" pitchFamily="34" charset="-122"/>
                <a:cs typeface="Calibri" pitchFamily="34" charset="-120"/>
              </a:rPr>
              <a:t>Disponible</a:t>
            </a:r>
            <a:endParaRPr lang="en-US" sz="1050" dirty="0"/>
          </a:p>
        </p:txBody>
      </p:sp>
      <p:sp>
        <p:nvSpPr>
          <p:cNvPr id="16" name="Shape 14"/>
          <p:cNvSpPr/>
          <p:nvPr/>
        </p:nvSpPr>
        <p:spPr>
          <a:xfrm>
            <a:off x="7315200" y="3374136"/>
            <a:ext cx="4297680" cy="475488"/>
          </a:xfrm>
          <a:prstGeom prst="roundRect">
            <a:avLst>
              <a:gd name="adj" fmla="val 19231"/>
            </a:avLst>
          </a:prstGeom>
          <a:solidFill>
            <a:srgbClr val="FFFFFF"/>
          </a:solidFill>
          <a:ln w="12700">
            <a:solidFill>
              <a:srgbClr val="E0E5E4"/>
            </a:solidFill>
            <a:prstDash val="solid"/>
          </a:ln>
        </p:spPr>
      </p:sp>
      <p:sp>
        <p:nvSpPr>
          <p:cNvPr id="17" name="Text 15"/>
          <p:cNvSpPr/>
          <p:nvPr/>
        </p:nvSpPr>
        <p:spPr>
          <a:xfrm>
            <a:off x="7516368" y="3374136"/>
            <a:ext cx="2377440" cy="475488"/>
          </a:xfrm>
          <a:prstGeom prst="rect">
            <a:avLst/>
          </a:prstGeom>
          <a:noFill/>
          <a:ln/>
        </p:spPr>
        <p:txBody>
          <a:bodyPr wrap="square" lIns="0" tIns="0" rIns="0" bIns="0" rtlCol="0" anchor="ctr"/>
          <a:lstStyle/>
          <a:p>
            <a:pPr indent="0" marL="0">
              <a:buNone/>
            </a:pPr>
            <a:r>
              <a:rPr lang="en-US" sz="1250" dirty="0">
                <a:solidFill>
                  <a:srgbClr val="12181B"/>
                </a:solidFill>
                <a:latin typeface="Calibri" pitchFamily="34" charset="0"/>
                <a:ea typeface="Calibri" pitchFamily="34" charset="-122"/>
                <a:cs typeface="Calibri" pitchFamily="34" charset="-120"/>
              </a:rPr>
              <a:t>Cosium</a:t>
            </a:r>
            <a:endParaRPr lang="en-US" sz="1250" dirty="0"/>
          </a:p>
        </p:txBody>
      </p:sp>
      <p:sp>
        <p:nvSpPr>
          <p:cNvPr id="18" name="Text 16"/>
          <p:cNvSpPr/>
          <p:nvPr/>
        </p:nvSpPr>
        <p:spPr>
          <a:xfrm>
            <a:off x="9692640" y="3374136"/>
            <a:ext cx="1828800" cy="475488"/>
          </a:xfrm>
          <a:prstGeom prst="rect">
            <a:avLst/>
          </a:prstGeom>
          <a:noFill/>
          <a:ln/>
        </p:spPr>
        <p:txBody>
          <a:bodyPr wrap="square" lIns="0" tIns="0" rIns="0" bIns="0" rtlCol="0" anchor="ctr"/>
          <a:lstStyle/>
          <a:p>
            <a:pPr algn="r" indent="0" marL="0">
              <a:buNone/>
            </a:pPr>
            <a:r>
              <a:rPr lang="en-US" sz="1050" i="1" dirty="0">
                <a:solidFill>
                  <a:srgbClr val="8A9AA0"/>
                </a:solidFill>
                <a:latin typeface="Calibri" pitchFamily="34" charset="0"/>
                <a:ea typeface="Calibri" pitchFamily="34" charset="-122"/>
                <a:cs typeface="Calibri" pitchFamily="34" charset="-120"/>
              </a:rPr>
              <a:t>Feuille de route</a:t>
            </a:r>
            <a:endParaRPr lang="en-US" sz="1050" dirty="0"/>
          </a:p>
        </p:txBody>
      </p:sp>
      <p:sp>
        <p:nvSpPr>
          <p:cNvPr id="19" name="Shape 17"/>
          <p:cNvSpPr/>
          <p:nvPr/>
        </p:nvSpPr>
        <p:spPr>
          <a:xfrm>
            <a:off x="7315200" y="3959352"/>
            <a:ext cx="4297680" cy="475488"/>
          </a:xfrm>
          <a:prstGeom prst="roundRect">
            <a:avLst>
              <a:gd name="adj" fmla="val 19231"/>
            </a:avLst>
          </a:prstGeom>
          <a:solidFill>
            <a:srgbClr val="FFFFFF"/>
          </a:solidFill>
          <a:ln w="12700">
            <a:solidFill>
              <a:srgbClr val="E0E5E4"/>
            </a:solidFill>
            <a:prstDash val="solid"/>
          </a:ln>
        </p:spPr>
      </p:sp>
      <p:sp>
        <p:nvSpPr>
          <p:cNvPr id="20" name="Text 18"/>
          <p:cNvSpPr/>
          <p:nvPr/>
        </p:nvSpPr>
        <p:spPr>
          <a:xfrm>
            <a:off x="7516368" y="3959352"/>
            <a:ext cx="2377440" cy="475488"/>
          </a:xfrm>
          <a:prstGeom prst="rect">
            <a:avLst/>
          </a:prstGeom>
          <a:noFill/>
          <a:ln/>
        </p:spPr>
        <p:txBody>
          <a:bodyPr wrap="square" lIns="0" tIns="0" rIns="0" bIns="0" rtlCol="0" anchor="ctr"/>
          <a:lstStyle/>
          <a:p>
            <a:pPr indent="0" marL="0">
              <a:buNone/>
            </a:pPr>
            <a:r>
              <a:rPr lang="en-US" sz="1250" dirty="0">
                <a:solidFill>
                  <a:srgbClr val="12181B"/>
                </a:solidFill>
                <a:latin typeface="Calibri" pitchFamily="34" charset="0"/>
                <a:ea typeface="Calibri" pitchFamily="34" charset="-122"/>
                <a:cs typeface="Calibri" pitchFamily="34" charset="-120"/>
              </a:rPr>
              <a:t>Optimum</a:t>
            </a:r>
            <a:endParaRPr lang="en-US" sz="1250" dirty="0"/>
          </a:p>
        </p:txBody>
      </p:sp>
      <p:sp>
        <p:nvSpPr>
          <p:cNvPr id="21" name="Text 19"/>
          <p:cNvSpPr/>
          <p:nvPr/>
        </p:nvSpPr>
        <p:spPr>
          <a:xfrm>
            <a:off x="9692640" y="3959352"/>
            <a:ext cx="1828800" cy="475488"/>
          </a:xfrm>
          <a:prstGeom prst="rect">
            <a:avLst/>
          </a:prstGeom>
          <a:noFill/>
          <a:ln/>
        </p:spPr>
        <p:txBody>
          <a:bodyPr wrap="square" lIns="0" tIns="0" rIns="0" bIns="0" rtlCol="0" anchor="ctr"/>
          <a:lstStyle/>
          <a:p>
            <a:pPr algn="r" indent="0" marL="0">
              <a:buNone/>
            </a:pPr>
            <a:r>
              <a:rPr lang="en-US" sz="1050" i="1" dirty="0">
                <a:solidFill>
                  <a:srgbClr val="8A9AA0"/>
                </a:solidFill>
                <a:latin typeface="Calibri" pitchFamily="34" charset="0"/>
                <a:ea typeface="Calibri" pitchFamily="34" charset="-122"/>
                <a:cs typeface="Calibri" pitchFamily="34" charset="-120"/>
              </a:rPr>
              <a:t>Feuille de route</a:t>
            </a:r>
            <a:endParaRPr lang="en-US" sz="1050" dirty="0"/>
          </a:p>
        </p:txBody>
      </p:sp>
      <p:sp>
        <p:nvSpPr>
          <p:cNvPr id="22" name="Shape 20"/>
          <p:cNvSpPr/>
          <p:nvPr/>
        </p:nvSpPr>
        <p:spPr>
          <a:xfrm>
            <a:off x="7315200" y="4544568"/>
            <a:ext cx="4297680" cy="475488"/>
          </a:xfrm>
          <a:prstGeom prst="roundRect">
            <a:avLst>
              <a:gd name="adj" fmla="val 19231"/>
            </a:avLst>
          </a:prstGeom>
          <a:solidFill>
            <a:srgbClr val="FFFFFF"/>
          </a:solidFill>
          <a:ln w="12700">
            <a:solidFill>
              <a:srgbClr val="E0E5E4"/>
            </a:solidFill>
            <a:prstDash val="solid"/>
          </a:ln>
        </p:spPr>
      </p:sp>
      <p:sp>
        <p:nvSpPr>
          <p:cNvPr id="23" name="Text 21"/>
          <p:cNvSpPr/>
          <p:nvPr/>
        </p:nvSpPr>
        <p:spPr>
          <a:xfrm>
            <a:off x="7516368" y="4544568"/>
            <a:ext cx="2377440" cy="475488"/>
          </a:xfrm>
          <a:prstGeom prst="rect">
            <a:avLst/>
          </a:prstGeom>
          <a:noFill/>
          <a:ln/>
        </p:spPr>
        <p:txBody>
          <a:bodyPr wrap="square" lIns="0" tIns="0" rIns="0" bIns="0" rtlCol="0" anchor="ctr"/>
          <a:lstStyle/>
          <a:p>
            <a:pPr indent="0" marL="0">
              <a:buNone/>
            </a:pPr>
            <a:r>
              <a:rPr lang="en-US" sz="1250" dirty="0">
                <a:solidFill>
                  <a:srgbClr val="12181B"/>
                </a:solidFill>
                <a:latin typeface="Calibri" pitchFamily="34" charset="0"/>
                <a:ea typeface="Calibri" pitchFamily="34" charset="-122"/>
                <a:cs typeface="Calibri" pitchFamily="34" charset="-120"/>
              </a:rPr>
              <a:t>Osmose</a:t>
            </a:r>
            <a:endParaRPr lang="en-US" sz="1250" dirty="0"/>
          </a:p>
        </p:txBody>
      </p:sp>
      <p:sp>
        <p:nvSpPr>
          <p:cNvPr id="24" name="Text 22"/>
          <p:cNvSpPr/>
          <p:nvPr/>
        </p:nvSpPr>
        <p:spPr>
          <a:xfrm>
            <a:off x="9692640" y="4544568"/>
            <a:ext cx="1828800" cy="475488"/>
          </a:xfrm>
          <a:prstGeom prst="rect">
            <a:avLst/>
          </a:prstGeom>
          <a:noFill/>
          <a:ln/>
        </p:spPr>
        <p:txBody>
          <a:bodyPr wrap="square" lIns="0" tIns="0" rIns="0" bIns="0" rtlCol="0" anchor="ctr"/>
          <a:lstStyle/>
          <a:p>
            <a:pPr algn="r" indent="0" marL="0">
              <a:buNone/>
            </a:pPr>
            <a:r>
              <a:rPr lang="en-US" sz="1050" i="1" dirty="0">
                <a:solidFill>
                  <a:srgbClr val="8A9AA0"/>
                </a:solidFill>
                <a:latin typeface="Calibri" pitchFamily="34" charset="0"/>
                <a:ea typeface="Calibri" pitchFamily="34" charset="-122"/>
                <a:cs typeface="Calibri" pitchFamily="34" charset="-120"/>
              </a:rPr>
              <a:t>Feuille de route</a:t>
            </a:r>
            <a:endParaRPr lang="en-US" sz="1050" dirty="0"/>
          </a:p>
        </p:txBody>
      </p:sp>
      <p:sp>
        <p:nvSpPr>
          <p:cNvPr id="25" name="Shape 23"/>
          <p:cNvSpPr/>
          <p:nvPr/>
        </p:nvSpPr>
        <p:spPr>
          <a:xfrm>
            <a:off x="7315200" y="5129784"/>
            <a:ext cx="4297680" cy="475488"/>
          </a:xfrm>
          <a:prstGeom prst="roundRect">
            <a:avLst>
              <a:gd name="adj" fmla="val 19231"/>
            </a:avLst>
          </a:prstGeom>
          <a:solidFill>
            <a:srgbClr val="FFFFFF"/>
          </a:solidFill>
          <a:ln w="12700">
            <a:solidFill>
              <a:srgbClr val="E0E5E4"/>
            </a:solidFill>
            <a:prstDash val="solid"/>
          </a:ln>
        </p:spPr>
      </p:sp>
      <p:sp>
        <p:nvSpPr>
          <p:cNvPr id="26" name="Text 24"/>
          <p:cNvSpPr/>
          <p:nvPr/>
        </p:nvSpPr>
        <p:spPr>
          <a:xfrm>
            <a:off x="7516368" y="5129784"/>
            <a:ext cx="2377440" cy="475488"/>
          </a:xfrm>
          <a:prstGeom prst="rect">
            <a:avLst/>
          </a:prstGeom>
          <a:noFill/>
          <a:ln/>
        </p:spPr>
        <p:txBody>
          <a:bodyPr wrap="square" lIns="0" tIns="0" rIns="0" bIns="0" rtlCol="0" anchor="ctr"/>
          <a:lstStyle/>
          <a:p>
            <a:pPr indent="0" marL="0">
              <a:buNone/>
            </a:pPr>
            <a:r>
              <a:rPr lang="en-US" sz="1250" dirty="0">
                <a:solidFill>
                  <a:srgbClr val="12181B"/>
                </a:solidFill>
                <a:latin typeface="Calibri" pitchFamily="34" charset="0"/>
                <a:ea typeface="Calibri" pitchFamily="34" charset="-122"/>
                <a:cs typeface="Calibri" pitchFamily="34" charset="-120"/>
              </a:rPr>
              <a:t>WinOptics</a:t>
            </a:r>
            <a:endParaRPr lang="en-US" sz="1250" dirty="0"/>
          </a:p>
        </p:txBody>
      </p:sp>
      <p:sp>
        <p:nvSpPr>
          <p:cNvPr id="27" name="Text 25"/>
          <p:cNvSpPr/>
          <p:nvPr/>
        </p:nvSpPr>
        <p:spPr>
          <a:xfrm>
            <a:off x="9692640" y="5129784"/>
            <a:ext cx="1828800" cy="475488"/>
          </a:xfrm>
          <a:prstGeom prst="rect">
            <a:avLst/>
          </a:prstGeom>
          <a:noFill/>
          <a:ln/>
        </p:spPr>
        <p:txBody>
          <a:bodyPr wrap="square" lIns="0" tIns="0" rIns="0" bIns="0" rtlCol="0" anchor="ctr"/>
          <a:lstStyle/>
          <a:p>
            <a:pPr algn="r" indent="0" marL="0">
              <a:buNone/>
            </a:pPr>
            <a:r>
              <a:rPr lang="en-US" sz="1050" i="1" dirty="0">
                <a:solidFill>
                  <a:srgbClr val="8A9AA0"/>
                </a:solidFill>
                <a:latin typeface="Calibri" pitchFamily="34" charset="0"/>
                <a:ea typeface="Calibri" pitchFamily="34" charset="-122"/>
                <a:cs typeface="Calibri" pitchFamily="34" charset="-120"/>
              </a:rPr>
              <a:t>Feuille de route</a:t>
            </a:r>
            <a:endParaRPr lang="en-US" sz="1050" dirty="0"/>
          </a:p>
        </p:txBody>
      </p:sp>
      <p:sp>
        <p:nvSpPr>
          <p:cNvPr id="28" name="Shape 26"/>
          <p:cNvSpPr/>
          <p:nvPr/>
        </p:nvSpPr>
        <p:spPr>
          <a:xfrm>
            <a:off x="7315200" y="5715000"/>
            <a:ext cx="4297680" cy="475488"/>
          </a:xfrm>
          <a:prstGeom prst="roundRect">
            <a:avLst>
              <a:gd name="adj" fmla="val 19231"/>
            </a:avLst>
          </a:prstGeom>
          <a:solidFill>
            <a:srgbClr val="FFFFFF"/>
          </a:solidFill>
          <a:ln w="12700">
            <a:solidFill>
              <a:srgbClr val="E0E5E4"/>
            </a:solidFill>
            <a:prstDash val="solid"/>
          </a:ln>
        </p:spPr>
      </p:sp>
      <p:sp>
        <p:nvSpPr>
          <p:cNvPr id="29" name="Text 27"/>
          <p:cNvSpPr/>
          <p:nvPr/>
        </p:nvSpPr>
        <p:spPr>
          <a:xfrm>
            <a:off x="7516368" y="5715000"/>
            <a:ext cx="2377440" cy="475488"/>
          </a:xfrm>
          <a:prstGeom prst="rect">
            <a:avLst/>
          </a:prstGeom>
          <a:noFill/>
          <a:ln/>
        </p:spPr>
        <p:txBody>
          <a:bodyPr wrap="square" lIns="0" tIns="0" rIns="0" bIns="0" rtlCol="0" anchor="ctr"/>
          <a:lstStyle/>
          <a:p>
            <a:pPr indent="0" marL="0">
              <a:buNone/>
            </a:pPr>
            <a:r>
              <a:rPr lang="en-US" sz="1250" dirty="0">
                <a:solidFill>
                  <a:srgbClr val="12181B"/>
                </a:solidFill>
                <a:latin typeface="Calibri" pitchFamily="34" charset="0"/>
                <a:ea typeface="Calibri" pitchFamily="34" charset="-122"/>
                <a:cs typeface="Calibri" pitchFamily="34" charset="-120"/>
              </a:rPr>
              <a:t>MyEasyOptic</a:t>
            </a:r>
            <a:endParaRPr lang="en-US" sz="1250" dirty="0"/>
          </a:p>
        </p:txBody>
      </p:sp>
      <p:sp>
        <p:nvSpPr>
          <p:cNvPr id="30" name="Text 28"/>
          <p:cNvSpPr/>
          <p:nvPr/>
        </p:nvSpPr>
        <p:spPr>
          <a:xfrm>
            <a:off x="9692640" y="5715000"/>
            <a:ext cx="1828800" cy="475488"/>
          </a:xfrm>
          <a:prstGeom prst="rect">
            <a:avLst/>
          </a:prstGeom>
          <a:noFill/>
          <a:ln/>
        </p:spPr>
        <p:txBody>
          <a:bodyPr wrap="square" lIns="0" tIns="0" rIns="0" bIns="0" rtlCol="0" anchor="ctr"/>
          <a:lstStyle/>
          <a:p>
            <a:pPr algn="r" indent="0" marL="0">
              <a:buNone/>
            </a:pPr>
            <a:r>
              <a:rPr lang="en-US" sz="1050" i="1" dirty="0">
                <a:solidFill>
                  <a:srgbClr val="8A9AA0"/>
                </a:solidFill>
                <a:latin typeface="Calibri" pitchFamily="34" charset="0"/>
                <a:ea typeface="Calibri" pitchFamily="34" charset="-122"/>
                <a:cs typeface="Calibri" pitchFamily="34" charset="-120"/>
              </a:rPr>
              <a:t>Feuille de route</a:t>
            </a:r>
            <a:endParaRPr lang="en-US" sz="1050" dirty="0"/>
          </a:p>
        </p:txBody>
      </p:sp>
      <p:sp>
        <p:nvSpPr>
          <p:cNvPr id="31" name="Text 29"/>
          <p:cNvSpPr/>
          <p:nvPr/>
        </p:nvSpPr>
        <p:spPr>
          <a:xfrm>
            <a:off x="10728655" y="6400800"/>
            <a:ext cx="118872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OKIU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548640" y="429768"/>
            <a:ext cx="237744" cy="237744"/>
          </a:xfrm>
          <a:prstGeom prst="ellipse">
            <a:avLst/>
          </a:prstGeom>
          <a:ln w="28575">
            <a:solidFill>
              <a:srgbClr val="1F6F63"/>
            </a:solidFill>
            <a:prstDash val="solid"/>
          </a:ln>
        </p:spPr>
      </p:sp>
      <p:sp>
        <p:nvSpPr>
          <p:cNvPr id="3" name="Shape 1"/>
          <p:cNvSpPr/>
          <p:nvPr/>
        </p:nvSpPr>
        <p:spPr>
          <a:xfrm>
            <a:off x="736933" y="422160"/>
            <a:ext cx="76078" cy="76078"/>
          </a:xfrm>
          <a:prstGeom prst="ellipse">
            <a:avLst/>
          </a:prstGeom>
          <a:solidFill>
            <a:srgbClr val="C97A3D"/>
          </a:solidFill>
          <a:ln/>
        </p:spPr>
      </p:sp>
      <p:sp>
        <p:nvSpPr>
          <p:cNvPr id="4" name="Text 2"/>
          <p:cNvSpPr/>
          <p:nvPr/>
        </p:nvSpPr>
        <p:spPr>
          <a:xfrm>
            <a:off x="914400" y="329184"/>
            <a:ext cx="1828800" cy="365760"/>
          </a:xfrm>
          <a:prstGeom prst="rect">
            <a:avLst/>
          </a:prstGeom>
          <a:noFill/>
          <a:ln/>
        </p:spPr>
        <p:txBody>
          <a:bodyPr wrap="square" lIns="0" tIns="0" rIns="0" bIns="0" rtlCol="0" anchor="ctr"/>
          <a:lstStyle/>
          <a:p>
            <a:pPr indent="0" marL="0">
              <a:buNone/>
            </a:pPr>
            <a:r>
              <a:rPr lang="en-US" sz="1700" b="1" dirty="0">
                <a:solidFill>
                  <a:srgbClr val="12181B"/>
                </a:solidFill>
                <a:latin typeface="Cambria" pitchFamily="34" charset="0"/>
                <a:ea typeface="Cambria" pitchFamily="34" charset="-122"/>
                <a:cs typeface="Cambria" pitchFamily="34" charset="-120"/>
              </a:rPr>
              <a:t>OKIU</a:t>
            </a:r>
            <a:endParaRPr lang="en-US" sz="1700" dirty="0"/>
          </a:p>
        </p:txBody>
      </p:sp>
      <p:sp>
        <p:nvSpPr>
          <p:cNvPr id="5" name="Shape 3"/>
          <p:cNvSpPr/>
          <p:nvPr/>
        </p:nvSpPr>
        <p:spPr>
          <a:xfrm>
            <a:off x="566928" y="1316736"/>
            <a:ext cx="82296" cy="82296"/>
          </a:xfrm>
          <a:prstGeom prst="ellipse">
            <a:avLst/>
          </a:prstGeom>
          <a:solidFill>
            <a:srgbClr val="1F6F63"/>
          </a:solidFill>
          <a:ln/>
        </p:spPr>
      </p:sp>
      <p:sp>
        <p:nvSpPr>
          <p:cNvPr id="6" name="Text 4"/>
          <p:cNvSpPr/>
          <p:nvPr/>
        </p:nvSpPr>
        <p:spPr>
          <a:xfrm>
            <a:off x="749808" y="1179576"/>
            <a:ext cx="7315200" cy="274320"/>
          </a:xfrm>
          <a:prstGeom prst="rect">
            <a:avLst/>
          </a:prstGeom>
          <a:noFill/>
          <a:ln/>
        </p:spPr>
        <p:txBody>
          <a:bodyPr wrap="square" lIns="0" tIns="0" rIns="0" bIns="0" rtlCol="0" anchor="ctr"/>
          <a:lstStyle/>
          <a:p>
            <a:pPr indent="0" marL="0">
              <a:buNone/>
            </a:pPr>
            <a:r>
              <a:rPr lang="en-US" sz="1250" b="1" spc="200" kern="0" dirty="0">
                <a:solidFill>
                  <a:srgbClr val="1F6F63"/>
                </a:solidFill>
                <a:latin typeface="Calibri" pitchFamily="34" charset="0"/>
                <a:ea typeface="Calibri" pitchFamily="34" charset="-122"/>
                <a:cs typeface="Calibri" pitchFamily="34" charset="-120"/>
              </a:rPr>
              <a:t>QUESTIONS DIRECTES</a:t>
            </a:r>
            <a:endParaRPr lang="en-US" sz="1250" dirty="0"/>
          </a:p>
        </p:txBody>
      </p:sp>
      <p:sp>
        <p:nvSpPr>
          <p:cNvPr id="7" name="Text 5"/>
          <p:cNvSpPr/>
          <p:nvPr/>
        </p:nvSpPr>
        <p:spPr>
          <a:xfrm>
            <a:off x="548640" y="1508760"/>
            <a:ext cx="10058400" cy="640080"/>
          </a:xfrm>
          <a:prstGeom prst="rect">
            <a:avLst/>
          </a:prstGeom>
          <a:noFill/>
          <a:ln/>
        </p:spPr>
        <p:txBody>
          <a:bodyPr wrap="square" lIns="0" tIns="0" rIns="0" bIns="0" rtlCol="0" anchor="ctr"/>
          <a:lstStyle/>
          <a:p>
            <a:pPr indent="0" marL="0">
              <a:buNone/>
            </a:pPr>
            <a:r>
              <a:rPr lang="en-US" sz="2800" b="1" dirty="0">
                <a:solidFill>
                  <a:srgbClr val="12181B"/>
                </a:solidFill>
                <a:latin typeface="Cambria" pitchFamily="34" charset="0"/>
                <a:ea typeface="Cambria" pitchFamily="34" charset="-122"/>
                <a:cs typeface="Cambria" pitchFamily="34" charset="-120"/>
              </a:rPr>
              <a:t>Ce que vous vous demandez sûrement</a:t>
            </a:r>
            <a:endParaRPr lang="en-US" sz="2800" dirty="0"/>
          </a:p>
        </p:txBody>
      </p:sp>
      <p:sp>
        <p:nvSpPr>
          <p:cNvPr id="8" name="Shape 6"/>
          <p:cNvSpPr/>
          <p:nvPr/>
        </p:nvSpPr>
        <p:spPr>
          <a:xfrm>
            <a:off x="548640" y="2331720"/>
            <a:ext cx="5257800" cy="1691640"/>
          </a:xfrm>
          <a:prstGeom prst="roundRect">
            <a:avLst>
              <a:gd name="adj" fmla="val 7568"/>
            </a:avLst>
          </a:prstGeom>
          <a:solidFill>
            <a:srgbClr val="FFFFFF"/>
          </a:solidFill>
          <a:ln/>
          <a:effectLst>
            <a:outerShdw sx="100000" sy="100000" kx="0" ky="0" algn="bl" rotWithShape="0" blurRad="101600" dist="25400" dir="5400000">
              <a:srgbClr val="12181B">
                <a:alpha val="10000"/>
              </a:srgbClr>
            </a:outerShdw>
          </a:effectLst>
        </p:spPr>
      </p:sp>
      <p:sp>
        <p:nvSpPr>
          <p:cNvPr id="9" name="Text 7"/>
          <p:cNvSpPr/>
          <p:nvPr/>
        </p:nvSpPr>
        <p:spPr>
          <a:xfrm>
            <a:off x="822960" y="2532888"/>
            <a:ext cx="4709160" cy="457200"/>
          </a:xfrm>
          <a:prstGeom prst="rect">
            <a:avLst/>
          </a:prstGeom>
          <a:noFill/>
          <a:ln/>
        </p:spPr>
        <p:txBody>
          <a:bodyPr wrap="square" lIns="0" tIns="0" rIns="0" bIns="0" rtlCol="0" anchor="ctr"/>
          <a:lstStyle/>
          <a:p>
            <a:pPr indent="0" marL="0">
              <a:buNone/>
            </a:pPr>
            <a:r>
              <a:rPr lang="en-US" sz="1450" b="1" dirty="0">
                <a:solidFill>
                  <a:srgbClr val="16544B"/>
                </a:solidFill>
                <a:latin typeface="Cambria" pitchFamily="34" charset="0"/>
                <a:ea typeface="Cambria" pitchFamily="34" charset="-122"/>
                <a:cs typeface="Cambria" pitchFamily="34" charset="-120"/>
              </a:rPr>
              <a:t>OKIU remplace-t-il mon logiciel métier ?</a:t>
            </a:r>
            <a:endParaRPr lang="en-US" sz="1450" dirty="0"/>
          </a:p>
        </p:txBody>
      </p:sp>
      <p:sp>
        <p:nvSpPr>
          <p:cNvPr id="10" name="Text 8"/>
          <p:cNvSpPr/>
          <p:nvPr/>
        </p:nvSpPr>
        <p:spPr>
          <a:xfrm>
            <a:off x="822960" y="3044952"/>
            <a:ext cx="4709160" cy="822960"/>
          </a:xfrm>
          <a:prstGeom prst="rect">
            <a:avLst/>
          </a:prstGeom>
          <a:noFill/>
          <a:ln/>
        </p:spPr>
        <p:txBody>
          <a:bodyPr wrap="square" lIns="0" tIns="0" rIns="0" bIns="0" rtlCol="0" anchor="ctr"/>
          <a:lstStyle/>
          <a:p>
            <a:pPr indent="0" marL="0">
              <a:lnSpc>
                <a:spcPct val="128000"/>
              </a:lnSpc>
              <a:buNone/>
            </a:pPr>
            <a:r>
              <a:rPr lang="en-US" sz="1200" dirty="0">
                <a:solidFill>
                  <a:srgbClr val="52616B"/>
                </a:solidFill>
                <a:latin typeface="Calibri" pitchFamily="34" charset="0"/>
                <a:ea typeface="Calibri" pitchFamily="34" charset="-122"/>
                <a:cs typeface="Calibri" pitchFamily="34" charset="-120"/>
              </a:rPr>
              <a:t>Non. Il se place au-dessus de Polylogic et de vos emails ; votre logiciel métier reste le vôtre.</a:t>
            </a:r>
            <a:endParaRPr lang="en-US" sz="1200" dirty="0"/>
          </a:p>
        </p:txBody>
      </p:sp>
      <p:sp>
        <p:nvSpPr>
          <p:cNvPr id="11" name="Shape 9"/>
          <p:cNvSpPr/>
          <p:nvPr/>
        </p:nvSpPr>
        <p:spPr>
          <a:xfrm>
            <a:off x="6126480" y="2331720"/>
            <a:ext cx="5257800" cy="1691640"/>
          </a:xfrm>
          <a:prstGeom prst="roundRect">
            <a:avLst>
              <a:gd name="adj" fmla="val 7568"/>
            </a:avLst>
          </a:prstGeom>
          <a:solidFill>
            <a:srgbClr val="FFFFFF"/>
          </a:solidFill>
          <a:ln/>
          <a:effectLst>
            <a:outerShdw sx="100000" sy="100000" kx="0" ky="0" algn="bl" rotWithShape="0" blurRad="101600" dist="25400" dir="5400000">
              <a:srgbClr val="12181B">
                <a:alpha val="10000"/>
              </a:srgbClr>
            </a:outerShdw>
          </a:effectLst>
        </p:spPr>
      </p:sp>
      <p:sp>
        <p:nvSpPr>
          <p:cNvPr id="12" name="Text 10"/>
          <p:cNvSpPr/>
          <p:nvPr/>
        </p:nvSpPr>
        <p:spPr>
          <a:xfrm>
            <a:off x="6400800" y="2532888"/>
            <a:ext cx="4709160" cy="457200"/>
          </a:xfrm>
          <a:prstGeom prst="rect">
            <a:avLst/>
          </a:prstGeom>
          <a:noFill/>
          <a:ln/>
        </p:spPr>
        <p:txBody>
          <a:bodyPr wrap="square" lIns="0" tIns="0" rIns="0" bIns="0" rtlCol="0" anchor="ctr"/>
          <a:lstStyle/>
          <a:p>
            <a:pPr indent="0" marL="0">
              <a:buNone/>
            </a:pPr>
            <a:r>
              <a:rPr lang="en-US" sz="1450" b="1" dirty="0">
                <a:solidFill>
                  <a:srgbClr val="16544B"/>
                </a:solidFill>
                <a:latin typeface="Cambria" pitchFamily="34" charset="0"/>
                <a:ea typeface="Cambria" pitchFamily="34" charset="-122"/>
                <a:cs typeface="Cambria" pitchFamily="34" charset="-120"/>
              </a:rPr>
              <a:t>Et s'il fait une erreur en mon nom ?</a:t>
            </a:r>
            <a:endParaRPr lang="en-US" sz="1450" dirty="0"/>
          </a:p>
        </p:txBody>
      </p:sp>
      <p:sp>
        <p:nvSpPr>
          <p:cNvPr id="13" name="Text 11"/>
          <p:cNvSpPr/>
          <p:nvPr/>
        </p:nvSpPr>
        <p:spPr>
          <a:xfrm>
            <a:off x="6400800" y="3044952"/>
            <a:ext cx="4709160" cy="822960"/>
          </a:xfrm>
          <a:prstGeom prst="rect">
            <a:avLst/>
          </a:prstGeom>
          <a:noFill/>
          <a:ln/>
        </p:spPr>
        <p:txBody>
          <a:bodyPr wrap="square" lIns="0" tIns="0" rIns="0" bIns="0" rtlCol="0" anchor="ctr"/>
          <a:lstStyle/>
          <a:p>
            <a:pPr indent="0" marL="0">
              <a:lnSpc>
                <a:spcPct val="128000"/>
              </a:lnSpc>
              <a:buNone/>
            </a:pPr>
            <a:r>
              <a:rPr lang="en-US" sz="1200" dirty="0">
                <a:solidFill>
                  <a:srgbClr val="52616B"/>
                </a:solidFill>
                <a:latin typeface="Calibri" pitchFamily="34" charset="0"/>
                <a:ea typeface="Calibri" pitchFamily="34" charset="-122"/>
                <a:cs typeface="Calibri" pitchFamily="34" charset="-120"/>
              </a:rPr>
              <a:t>Arrêt contrôlé face à l'inconnu, mode supervisé au démarrage, journal complet de chaque action.</a:t>
            </a:r>
            <a:endParaRPr lang="en-US" sz="1200" dirty="0"/>
          </a:p>
        </p:txBody>
      </p:sp>
      <p:sp>
        <p:nvSpPr>
          <p:cNvPr id="14" name="Shape 12"/>
          <p:cNvSpPr/>
          <p:nvPr/>
        </p:nvSpPr>
        <p:spPr>
          <a:xfrm>
            <a:off x="548640" y="4343400"/>
            <a:ext cx="5257800" cy="1691640"/>
          </a:xfrm>
          <a:prstGeom prst="roundRect">
            <a:avLst>
              <a:gd name="adj" fmla="val 7568"/>
            </a:avLst>
          </a:prstGeom>
          <a:solidFill>
            <a:srgbClr val="FFFFFF"/>
          </a:solidFill>
          <a:ln/>
          <a:effectLst>
            <a:outerShdw sx="100000" sy="100000" kx="0" ky="0" algn="bl" rotWithShape="0" blurRad="101600" dist="25400" dir="5400000">
              <a:srgbClr val="12181B">
                <a:alpha val="10000"/>
              </a:srgbClr>
            </a:outerShdw>
          </a:effectLst>
        </p:spPr>
      </p:sp>
      <p:sp>
        <p:nvSpPr>
          <p:cNvPr id="15" name="Text 13"/>
          <p:cNvSpPr/>
          <p:nvPr/>
        </p:nvSpPr>
        <p:spPr>
          <a:xfrm>
            <a:off x="822960" y="4544568"/>
            <a:ext cx="4709160" cy="457200"/>
          </a:xfrm>
          <a:prstGeom prst="rect">
            <a:avLst/>
          </a:prstGeom>
          <a:noFill/>
          <a:ln/>
        </p:spPr>
        <p:txBody>
          <a:bodyPr wrap="square" lIns="0" tIns="0" rIns="0" bIns="0" rtlCol="0" anchor="ctr"/>
          <a:lstStyle/>
          <a:p>
            <a:pPr indent="0" marL="0">
              <a:buNone/>
            </a:pPr>
            <a:r>
              <a:rPr lang="en-US" sz="1450" b="1" dirty="0">
                <a:solidFill>
                  <a:srgbClr val="16544B"/>
                </a:solidFill>
                <a:latin typeface="Cambria" pitchFamily="34" charset="0"/>
                <a:ea typeface="Cambria" pitchFamily="34" charset="-122"/>
                <a:cs typeface="Cambria" pitchFamily="34" charset="-120"/>
              </a:rPr>
              <a:t>Qui voit mes données ?</a:t>
            </a:r>
            <a:endParaRPr lang="en-US" sz="1450" dirty="0"/>
          </a:p>
        </p:txBody>
      </p:sp>
      <p:sp>
        <p:nvSpPr>
          <p:cNvPr id="16" name="Text 14"/>
          <p:cNvSpPr/>
          <p:nvPr/>
        </p:nvSpPr>
        <p:spPr>
          <a:xfrm>
            <a:off x="822960" y="5056632"/>
            <a:ext cx="4709160" cy="822960"/>
          </a:xfrm>
          <a:prstGeom prst="rect">
            <a:avLst/>
          </a:prstGeom>
          <a:noFill/>
          <a:ln/>
        </p:spPr>
        <p:txBody>
          <a:bodyPr wrap="square" lIns="0" tIns="0" rIns="0" bIns="0" rtlCol="0" anchor="ctr"/>
          <a:lstStyle/>
          <a:p>
            <a:pPr indent="0" marL="0">
              <a:lnSpc>
                <a:spcPct val="128000"/>
              </a:lnSpc>
              <a:buNone/>
            </a:pPr>
            <a:r>
              <a:rPr lang="en-US" sz="1200" dirty="0">
                <a:solidFill>
                  <a:srgbClr val="52616B"/>
                </a:solidFill>
                <a:latin typeface="Calibri" pitchFamily="34" charset="0"/>
                <a:ea typeface="Calibri" pitchFamily="34" charset="-122"/>
                <a:cs typeface="Calibri" pitchFamily="34" charset="-120"/>
              </a:rPr>
              <a:t>Personne d'autre que vous : hébergement sur l'infrastructure du magasin, pas de cloud tiers en V1.</a:t>
            </a:r>
            <a:endParaRPr lang="en-US" sz="1200" dirty="0"/>
          </a:p>
        </p:txBody>
      </p:sp>
      <p:sp>
        <p:nvSpPr>
          <p:cNvPr id="17" name="Shape 15"/>
          <p:cNvSpPr/>
          <p:nvPr/>
        </p:nvSpPr>
        <p:spPr>
          <a:xfrm>
            <a:off x="6126480" y="4343400"/>
            <a:ext cx="5257800" cy="1691640"/>
          </a:xfrm>
          <a:prstGeom prst="roundRect">
            <a:avLst>
              <a:gd name="adj" fmla="val 7568"/>
            </a:avLst>
          </a:prstGeom>
          <a:solidFill>
            <a:srgbClr val="FFFFFF"/>
          </a:solidFill>
          <a:ln/>
          <a:effectLst>
            <a:outerShdw sx="100000" sy="100000" kx="0" ky="0" algn="bl" rotWithShape="0" blurRad="101600" dist="25400" dir="5400000">
              <a:srgbClr val="12181B">
                <a:alpha val="10000"/>
              </a:srgbClr>
            </a:outerShdw>
          </a:effectLst>
        </p:spPr>
      </p:sp>
      <p:sp>
        <p:nvSpPr>
          <p:cNvPr id="18" name="Text 16"/>
          <p:cNvSpPr/>
          <p:nvPr/>
        </p:nvSpPr>
        <p:spPr>
          <a:xfrm>
            <a:off x="6400800" y="4544568"/>
            <a:ext cx="4709160" cy="457200"/>
          </a:xfrm>
          <a:prstGeom prst="rect">
            <a:avLst/>
          </a:prstGeom>
          <a:noFill/>
          <a:ln/>
        </p:spPr>
        <p:txBody>
          <a:bodyPr wrap="square" lIns="0" tIns="0" rIns="0" bIns="0" rtlCol="0" anchor="ctr"/>
          <a:lstStyle/>
          <a:p>
            <a:pPr indent="0" marL="0">
              <a:buNone/>
            </a:pPr>
            <a:r>
              <a:rPr lang="en-US" sz="1450" b="1" dirty="0">
                <a:solidFill>
                  <a:srgbClr val="16544B"/>
                </a:solidFill>
                <a:latin typeface="Cambria" pitchFamily="34" charset="0"/>
                <a:ea typeface="Cambria" pitchFamily="34" charset="-122"/>
                <a:cs typeface="Cambria" pitchFamily="34" charset="-120"/>
              </a:rPr>
              <a:t>Combien ça coûte ?</a:t>
            </a:r>
            <a:endParaRPr lang="en-US" sz="1450" dirty="0"/>
          </a:p>
        </p:txBody>
      </p:sp>
      <p:sp>
        <p:nvSpPr>
          <p:cNvPr id="19" name="Text 17"/>
          <p:cNvSpPr/>
          <p:nvPr/>
        </p:nvSpPr>
        <p:spPr>
          <a:xfrm>
            <a:off x="6400800" y="5056632"/>
            <a:ext cx="4709160" cy="822960"/>
          </a:xfrm>
          <a:prstGeom prst="rect">
            <a:avLst/>
          </a:prstGeom>
          <a:noFill/>
          <a:ln/>
        </p:spPr>
        <p:txBody>
          <a:bodyPr wrap="square" lIns="0" tIns="0" rIns="0" bIns="0" rtlCol="0" anchor="ctr"/>
          <a:lstStyle/>
          <a:p>
            <a:pPr indent="0" marL="0">
              <a:lnSpc>
                <a:spcPct val="128000"/>
              </a:lnSpc>
              <a:buNone/>
            </a:pPr>
            <a:r>
              <a:rPr lang="en-US" sz="1200" dirty="0">
                <a:solidFill>
                  <a:srgbClr val="52616B"/>
                </a:solidFill>
                <a:latin typeface="Calibri" pitchFamily="34" charset="0"/>
                <a:ea typeface="Calibri" pitchFamily="34" charset="-122"/>
                <a:cs typeface="Calibri" pitchFamily="34" charset="-120"/>
              </a:rPr>
              <a:t>Phase pilote : conditions discutées au cas par cas, engagement simple, risque financier minime.</a:t>
            </a:r>
            <a:endParaRPr lang="en-US" sz="1200" dirty="0"/>
          </a:p>
        </p:txBody>
      </p:sp>
      <p:sp>
        <p:nvSpPr>
          <p:cNvPr id="20" name="Text 18"/>
          <p:cNvSpPr/>
          <p:nvPr/>
        </p:nvSpPr>
        <p:spPr>
          <a:xfrm>
            <a:off x="10728655" y="6400800"/>
            <a:ext cx="118872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OKIU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544B"/>
        </a:solidFill>
      </p:bgPr>
    </p:bg>
    <p:spTree>
      <p:nvGrpSpPr>
        <p:cNvPr id="1" name=""/>
        <p:cNvGrpSpPr/>
        <p:nvPr/>
      </p:nvGrpSpPr>
      <p:grpSpPr>
        <a:xfrm>
          <a:off x="0" y="0"/>
          <a:ext cx="0" cy="0"/>
          <a:chOff x="0" y="0"/>
          <a:chExt cx="0" cy="0"/>
        </a:xfrm>
      </p:grpSpPr>
      <p:sp>
        <p:nvSpPr>
          <p:cNvPr id="2" name="Shape 0"/>
          <p:cNvSpPr/>
          <p:nvPr/>
        </p:nvSpPr>
        <p:spPr>
          <a:xfrm>
            <a:off x="548640" y="475488"/>
            <a:ext cx="237744" cy="237744"/>
          </a:xfrm>
          <a:prstGeom prst="ellipse">
            <a:avLst/>
          </a:prstGeom>
          <a:ln w="28575">
            <a:solidFill>
              <a:srgbClr val="FFFFFF"/>
            </a:solidFill>
            <a:prstDash val="solid"/>
          </a:ln>
        </p:spPr>
      </p:sp>
      <p:sp>
        <p:nvSpPr>
          <p:cNvPr id="3" name="Shape 1"/>
          <p:cNvSpPr/>
          <p:nvPr/>
        </p:nvSpPr>
        <p:spPr>
          <a:xfrm>
            <a:off x="736933" y="467880"/>
            <a:ext cx="76078" cy="76078"/>
          </a:xfrm>
          <a:prstGeom prst="ellipse">
            <a:avLst/>
          </a:prstGeom>
          <a:solidFill>
            <a:srgbClr val="C97A3D"/>
          </a:solidFill>
          <a:ln/>
        </p:spPr>
      </p:sp>
      <p:sp>
        <p:nvSpPr>
          <p:cNvPr id="4" name="Text 2"/>
          <p:cNvSpPr/>
          <p:nvPr/>
        </p:nvSpPr>
        <p:spPr>
          <a:xfrm>
            <a:off x="914400" y="374904"/>
            <a:ext cx="1828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OKIU</a:t>
            </a:r>
            <a:endParaRPr lang="en-US" sz="1700" dirty="0"/>
          </a:p>
        </p:txBody>
      </p:sp>
      <p:sp>
        <p:nvSpPr>
          <p:cNvPr id="5" name="Shape 3"/>
          <p:cNvSpPr/>
          <p:nvPr/>
        </p:nvSpPr>
        <p:spPr>
          <a:xfrm>
            <a:off x="566928" y="1636776"/>
            <a:ext cx="82296" cy="82296"/>
          </a:xfrm>
          <a:prstGeom prst="ellipse">
            <a:avLst/>
          </a:prstGeom>
          <a:solidFill>
            <a:srgbClr val="1F6F63"/>
          </a:solidFill>
          <a:ln/>
        </p:spPr>
      </p:sp>
      <p:sp>
        <p:nvSpPr>
          <p:cNvPr id="6" name="Text 4"/>
          <p:cNvSpPr/>
          <p:nvPr/>
        </p:nvSpPr>
        <p:spPr>
          <a:xfrm>
            <a:off x="749808" y="1499616"/>
            <a:ext cx="7315200" cy="274320"/>
          </a:xfrm>
          <a:prstGeom prst="rect">
            <a:avLst/>
          </a:prstGeom>
          <a:noFill/>
          <a:ln/>
        </p:spPr>
        <p:txBody>
          <a:bodyPr wrap="square" lIns="0" tIns="0" rIns="0" bIns="0" rtlCol="0" anchor="ctr"/>
          <a:lstStyle/>
          <a:p>
            <a:pPr indent="0" marL="0">
              <a:buNone/>
            </a:pPr>
            <a:r>
              <a:rPr lang="en-US" sz="1250" b="1" spc="200" kern="0" dirty="0">
                <a:solidFill>
                  <a:srgbClr val="CFE3DE"/>
                </a:solidFill>
                <a:latin typeface="Calibri" pitchFamily="34" charset="0"/>
                <a:ea typeface="Calibri" pitchFamily="34" charset="-122"/>
                <a:cs typeface="Calibri" pitchFamily="34" charset="-120"/>
              </a:rPr>
              <a:t>REJOINDRE LE PILOTE</a:t>
            </a:r>
            <a:endParaRPr lang="en-US" sz="1250" dirty="0"/>
          </a:p>
        </p:txBody>
      </p:sp>
      <p:sp>
        <p:nvSpPr>
          <p:cNvPr id="7" name="Text 5"/>
          <p:cNvSpPr/>
          <p:nvPr/>
        </p:nvSpPr>
        <p:spPr>
          <a:xfrm>
            <a:off x="548640" y="1828800"/>
            <a:ext cx="77724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Rendez du temps à votre métier</a:t>
            </a:r>
            <a:endParaRPr lang="en-US" sz="3400" dirty="0"/>
          </a:p>
        </p:txBody>
      </p:sp>
      <p:sp>
        <p:nvSpPr>
          <p:cNvPr id="8" name="Text 6"/>
          <p:cNvSpPr/>
          <p:nvPr/>
        </p:nvSpPr>
        <p:spPr>
          <a:xfrm>
            <a:off x="548640" y="2697480"/>
            <a:ext cx="6675120" cy="914400"/>
          </a:xfrm>
          <a:prstGeom prst="rect">
            <a:avLst/>
          </a:prstGeom>
          <a:noFill/>
          <a:ln/>
        </p:spPr>
        <p:txBody>
          <a:bodyPr wrap="square" lIns="0" tIns="0" rIns="0" bIns="0" rtlCol="0" anchor="ctr"/>
          <a:lstStyle/>
          <a:p>
            <a:pPr indent="0" marL="0">
              <a:lnSpc>
                <a:spcPct val="135000"/>
              </a:lnSpc>
              <a:buNone/>
            </a:pPr>
            <a:r>
              <a:rPr lang="en-US" sz="1400" dirty="0">
                <a:solidFill>
                  <a:srgbClr val="CFE3DE"/>
                </a:solidFill>
                <a:latin typeface="Calibri" pitchFamily="34" charset="0"/>
                <a:ea typeface="Calibri" pitchFamily="34" charset="-122"/>
                <a:cs typeface="Calibri" pitchFamily="34" charset="-120"/>
              </a:rPr>
              <a:t>Nous ouvrons progressivement OKIU à quelques magasins pilotes. Dites-nous qui vous êtes — nous revenons vers vous rapidement, sans démarchage et sans engagement.</a:t>
            </a:r>
            <a:endParaRPr lang="en-US" sz="1400" dirty="0"/>
          </a:p>
        </p:txBody>
      </p:sp>
      <p:sp>
        <p:nvSpPr>
          <p:cNvPr id="9" name="Shape 7"/>
          <p:cNvSpPr/>
          <p:nvPr/>
        </p:nvSpPr>
        <p:spPr>
          <a:xfrm>
            <a:off x="566928" y="3822192"/>
            <a:ext cx="146304" cy="146304"/>
          </a:xfrm>
          <a:prstGeom prst="ellipse">
            <a:avLst/>
          </a:prstGeom>
          <a:solidFill>
            <a:srgbClr val="C97A3D"/>
          </a:solidFill>
          <a:ln/>
        </p:spPr>
      </p:sp>
      <p:sp>
        <p:nvSpPr>
          <p:cNvPr id="10" name="Text 8"/>
          <p:cNvSpPr/>
          <p:nvPr/>
        </p:nvSpPr>
        <p:spPr>
          <a:xfrm>
            <a:off x="868680" y="3675888"/>
            <a:ext cx="274320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Votre nom</a:t>
            </a:r>
            <a:endParaRPr lang="en-US" sz="1250" dirty="0"/>
          </a:p>
        </p:txBody>
      </p:sp>
      <p:sp>
        <p:nvSpPr>
          <p:cNvPr id="11" name="Shape 9"/>
          <p:cNvSpPr/>
          <p:nvPr/>
        </p:nvSpPr>
        <p:spPr>
          <a:xfrm>
            <a:off x="566928" y="4224528"/>
            <a:ext cx="146304" cy="146304"/>
          </a:xfrm>
          <a:prstGeom prst="ellipse">
            <a:avLst/>
          </a:prstGeom>
          <a:solidFill>
            <a:srgbClr val="C97A3D"/>
          </a:solidFill>
          <a:ln/>
        </p:spPr>
      </p:sp>
      <p:sp>
        <p:nvSpPr>
          <p:cNvPr id="12" name="Text 10"/>
          <p:cNvSpPr/>
          <p:nvPr/>
        </p:nvSpPr>
        <p:spPr>
          <a:xfrm>
            <a:off x="868680" y="4078224"/>
            <a:ext cx="274320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Votre magasin</a:t>
            </a:r>
            <a:endParaRPr lang="en-US" sz="1250" dirty="0"/>
          </a:p>
        </p:txBody>
      </p:sp>
      <p:sp>
        <p:nvSpPr>
          <p:cNvPr id="13" name="Shape 11"/>
          <p:cNvSpPr/>
          <p:nvPr/>
        </p:nvSpPr>
        <p:spPr>
          <a:xfrm>
            <a:off x="566928" y="4626864"/>
            <a:ext cx="146304" cy="146304"/>
          </a:xfrm>
          <a:prstGeom prst="ellipse">
            <a:avLst/>
          </a:prstGeom>
          <a:solidFill>
            <a:srgbClr val="C97A3D"/>
          </a:solidFill>
          <a:ln/>
        </p:spPr>
      </p:sp>
      <p:sp>
        <p:nvSpPr>
          <p:cNvPr id="14" name="Text 12"/>
          <p:cNvSpPr/>
          <p:nvPr/>
        </p:nvSpPr>
        <p:spPr>
          <a:xfrm>
            <a:off x="868680" y="4480560"/>
            <a:ext cx="274320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Votre email</a:t>
            </a:r>
            <a:endParaRPr lang="en-US" sz="1250" dirty="0"/>
          </a:p>
        </p:txBody>
      </p:sp>
      <p:sp>
        <p:nvSpPr>
          <p:cNvPr id="15" name="Shape 13"/>
          <p:cNvSpPr/>
          <p:nvPr/>
        </p:nvSpPr>
        <p:spPr>
          <a:xfrm>
            <a:off x="566928" y="5029200"/>
            <a:ext cx="146304" cy="146304"/>
          </a:xfrm>
          <a:prstGeom prst="ellipse">
            <a:avLst/>
          </a:prstGeom>
          <a:solidFill>
            <a:srgbClr val="C97A3D"/>
          </a:solidFill>
          <a:ln/>
        </p:spPr>
      </p:sp>
      <p:sp>
        <p:nvSpPr>
          <p:cNvPr id="16" name="Text 14"/>
          <p:cNvSpPr/>
          <p:nvPr/>
        </p:nvSpPr>
        <p:spPr>
          <a:xfrm>
            <a:off x="868680" y="4882896"/>
            <a:ext cx="274320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Votre logiciel métier</a:t>
            </a:r>
            <a:endParaRPr lang="en-US" sz="1250" dirty="0"/>
          </a:p>
        </p:txBody>
      </p:sp>
      <p:sp>
        <p:nvSpPr>
          <p:cNvPr id="17" name="Shape 15"/>
          <p:cNvSpPr/>
          <p:nvPr/>
        </p:nvSpPr>
        <p:spPr>
          <a:xfrm>
            <a:off x="548640" y="5532120"/>
            <a:ext cx="3017520" cy="566928"/>
          </a:xfrm>
          <a:prstGeom prst="roundRect">
            <a:avLst>
              <a:gd name="adj" fmla="val 50000"/>
            </a:avLst>
          </a:prstGeom>
          <a:solidFill>
            <a:srgbClr val="C97A3D"/>
          </a:solidFill>
          <a:ln/>
        </p:spPr>
      </p:sp>
      <p:sp>
        <p:nvSpPr>
          <p:cNvPr id="18" name="Text 16"/>
          <p:cNvSpPr/>
          <p:nvPr/>
        </p:nvSpPr>
        <p:spPr>
          <a:xfrm>
            <a:off x="548640" y="5532120"/>
            <a:ext cx="30175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Devenir magasin pilote</a:t>
            </a:r>
            <a:endParaRPr lang="en-US" sz="1400" dirty="0"/>
          </a:p>
        </p:txBody>
      </p:sp>
      <p:sp>
        <p:nvSpPr>
          <p:cNvPr id="19" name="Shape 17"/>
          <p:cNvSpPr/>
          <p:nvPr/>
        </p:nvSpPr>
        <p:spPr>
          <a:xfrm>
            <a:off x="7863840" y="1828800"/>
            <a:ext cx="3794760" cy="4251960"/>
          </a:xfrm>
          <a:prstGeom prst="roundRect">
            <a:avLst>
              <a:gd name="adj" fmla="val 4337"/>
            </a:avLst>
          </a:prstGeom>
          <a:solidFill>
            <a:srgbClr val="1B5E53"/>
          </a:solidFill>
          <a:ln/>
        </p:spPr>
      </p:sp>
      <p:sp>
        <p:nvSpPr>
          <p:cNvPr id="20" name="Text 18"/>
          <p:cNvSpPr/>
          <p:nvPr/>
        </p:nvSpPr>
        <p:spPr>
          <a:xfrm>
            <a:off x="8183880" y="2148840"/>
            <a:ext cx="3154680" cy="457200"/>
          </a:xfrm>
          <a:prstGeom prst="rect">
            <a:avLst/>
          </a:prstGeom>
          <a:noFill/>
          <a:ln/>
        </p:spPr>
        <p:txBody>
          <a:bodyPr wrap="square" lIns="0" tIns="0" rIns="0" bIns="0" rtlCol="0" anchor="ctr"/>
          <a:lstStyle/>
          <a:p>
            <a:pPr indent="0" marL="0">
              <a:buNone/>
            </a:pPr>
            <a:r>
              <a:rPr lang="en-US" sz="1700" b="1" i="1" dirty="0">
                <a:solidFill>
                  <a:srgbClr val="FFFFFF"/>
                </a:solidFill>
                <a:latin typeface="Cambria" pitchFamily="34" charset="0"/>
                <a:ea typeface="Cambria" pitchFamily="34" charset="-122"/>
                <a:cs typeface="Cambria" pitchFamily="34" charset="-120"/>
              </a:rPr>
              <a:t>Le temps rendu à l'opticien.</a:t>
            </a:r>
            <a:endParaRPr lang="en-US" sz="1700" dirty="0"/>
          </a:p>
        </p:txBody>
      </p:sp>
      <p:sp>
        <p:nvSpPr>
          <p:cNvPr id="21" name="Text 19"/>
          <p:cNvSpPr/>
          <p:nvPr/>
        </p:nvSpPr>
        <p:spPr>
          <a:xfrm>
            <a:off x="8183880" y="2880360"/>
            <a:ext cx="274320" cy="365760"/>
          </a:xfrm>
          <a:prstGeom prst="rect">
            <a:avLst/>
          </a:prstGeom>
          <a:noFill/>
          <a:ln/>
        </p:spPr>
        <p:txBody>
          <a:bodyPr wrap="square" lIns="0" tIns="0" rIns="0" bIns="0" rtlCol="0" anchor="ctr"/>
          <a:lstStyle/>
          <a:p>
            <a:pPr indent="0" marL="0">
              <a:buNone/>
            </a:pPr>
            <a:r>
              <a:rPr lang="en-US" sz="1300" b="1" dirty="0">
                <a:solidFill>
                  <a:srgbClr val="C97A3D"/>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8485632" y="2880360"/>
            <a:ext cx="2880360" cy="457200"/>
          </a:xfrm>
          <a:prstGeom prst="rect">
            <a:avLst/>
          </a:prstGeom>
          <a:noFill/>
          <a:ln/>
        </p:spPr>
        <p:txBody>
          <a:bodyPr wrap="square" lIns="0" tIns="0" rIns="0" bIns="0" rtlCol="0" anchor="ctr"/>
          <a:lstStyle/>
          <a:p>
            <a:pPr indent="0" marL="0">
              <a:lnSpc>
                <a:spcPct val="125000"/>
              </a:lnSpc>
              <a:buNone/>
            </a:pPr>
            <a:r>
              <a:rPr lang="en-US" sz="1150" dirty="0">
                <a:solidFill>
                  <a:srgbClr val="CFE3DE"/>
                </a:solidFill>
                <a:latin typeface="Calibri" pitchFamily="34" charset="0"/>
                <a:ea typeface="Calibri" pitchFamily="34" charset="-122"/>
                <a:cs typeface="Calibri" pitchFamily="34" charset="-120"/>
              </a:rPr>
              <a:t>Aucun démarchage, aucun engagement</a:t>
            </a:r>
            <a:endParaRPr lang="en-US" sz="1150" dirty="0"/>
          </a:p>
        </p:txBody>
      </p:sp>
      <p:sp>
        <p:nvSpPr>
          <p:cNvPr id="23" name="Text 21"/>
          <p:cNvSpPr/>
          <p:nvPr/>
        </p:nvSpPr>
        <p:spPr>
          <a:xfrm>
            <a:off x="8183880" y="3538728"/>
            <a:ext cx="274320" cy="365760"/>
          </a:xfrm>
          <a:prstGeom prst="rect">
            <a:avLst/>
          </a:prstGeom>
          <a:noFill/>
          <a:ln/>
        </p:spPr>
        <p:txBody>
          <a:bodyPr wrap="square" lIns="0" tIns="0" rIns="0" bIns="0" rtlCol="0" anchor="ctr"/>
          <a:lstStyle/>
          <a:p>
            <a:pPr indent="0" marL="0">
              <a:buNone/>
            </a:pPr>
            <a:r>
              <a:rPr lang="en-US" sz="1300" b="1" dirty="0">
                <a:solidFill>
                  <a:srgbClr val="C97A3D"/>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8485632" y="3538728"/>
            <a:ext cx="2880360" cy="457200"/>
          </a:xfrm>
          <a:prstGeom prst="rect">
            <a:avLst/>
          </a:prstGeom>
          <a:noFill/>
          <a:ln/>
        </p:spPr>
        <p:txBody>
          <a:bodyPr wrap="square" lIns="0" tIns="0" rIns="0" bIns="0" rtlCol="0" anchor="ctr"/>
          <a:lstStyle/>
          <a:p>
            <a:pPr indent="0" marL="0">
              <a:lnSpc>
                <a:spcPct val="125000"/>
              </a:lnSpc>
              <a:buNone/>
            </a:pPr>
            <a:r>
              <a:rPr lang="en-US" sz="1150" dirty="0">
                <a:solidFill>
                  <a:srgbClr val="CFE3DE"/>
                </a:solidFill>
                <a:latin typeface="Calibri" pitchFamily="34" charset="0"/>
                <a:ea typeface="Calibri" pitchFamily="34" charset="-122"/>
                <a:cs typeface="Calibri" pitchFamily="34" charset="-120"/>
              </a:rPr>
              <a:t>Réponse personnelle sous quelques jours</a:t>
            </a:r>
            <a:endParaRPr lang="en-US" sz="1150" dirty="0"/>
          </a:p>
        </p:txBody>
      </p:sp>
      <p:sp>
        <p:nvSpPr>
          <p:cNvPr id="25" name="Text 23"/>
          <p:cNvSpPr/>
          <p:nvPr/>
        </p:nvSpPr>
        <p:spPr>
          <a:xfrm>
            <a:off x="8183880" y="4197096"/>
            <a:ext cx="274320" cy="365760"/>
          </a:xfrm>
          <a:prstGeom prst="rect">
            <a:avLst/>
          </a:prstGeom>
          <a:noFill/>
          <a:ln/>
        </p:spPr>
        <p:txBody>
          <a:bodyPr wrap="square" lIns="0" tIns="0" rIns="0" bIns="0" rtlCol="0" anchor="ctr"/>
          <a:lstStyle/>
          <a:p>
            <a:pPr indent="0" marL="0">
              <a:buNone/>
            </a:pPr>
            <a:r>
              <a:rPr lang="en-US" sz="1300" b="1" dirty="0">
                <a:solidFill>
                  <a:srgbClr val="C97A3D"/>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8485632" y="4197096"/>
            <a:ext cx="2880360" cy="457200"/>
          </a:xfrm>
          <a:prstGeom prst="rect">
            <a:avLst/>
          </a:prstGeom>
          <a:noFill/>
          <a:ln/>
        </p:spPr>
        <p:txBody>
          <a:bodyPr wrap="square" lIns="0" tIns="0" rIns="0" bIns="0" rtlCol="0" anchor="ctr"/>
          <a:lstStyle/>
          <a:p>
            <a:pPr indent="0" marL="0">
              <a:lnSpc>
                <a:spcPct val="125000"/>
              </a:lnSpc>
              <a:buNone/>
            </a:pPr>
            <a:r>
              <a:rPr lang="en-US" sz="1150" dirty="0">
                <a:solidFill>
                  <a:srgbClr val="CFE3DE"/>
                </a:solidFill>
                <a:latin typeface="Calibri" pitchFamily="34" charset="0"/>
                <a:ea typeface="Calibri" pitchFamily="34" charset="-122"/>
                <a:cs typeface="Calibri" pitchFamily="34" charset="-120"/>
              </a:rPr>
              <a:t>Données utilisées uniquement pour vous recontacter</a:t>
            </a:r>
            <a:endParaRPr lang="en-US" sz="1150" dirty="0"/>
          </a:p>
        </p:txBody>
      </p:sp>
      <p:sp>
        <p:nvSpPr>
          <p:cNvPr id="27" name="Text 25"/>
          <p:cNvSpPr/>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6FA79B"/>
                </a:solidFill>
                <a:latin typeface="Calibri" pitchFamily="34" charset="0"/>
                <a:ea typeface="Calibri" pitchFamily="34" charset="-122"/>
                <a:cs typeface="Calibri" pitchFamily="34" charset="-120"/>
              </a:rPr>
              <a:t>© OKIU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2026-08-05T16:30:06Z</dcterms:created>
  <dcterms:modified xsi:type="dcterms:W3CDTF">2026-08-05T16:30:06Z</dcterms:modified>
</cp:coreProperties>
</file>